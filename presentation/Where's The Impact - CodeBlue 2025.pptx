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6" r:id="rId4"/>
    <p:sldMasterId id="214748368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y="5143500" cx="9144000"/>
  <p:notesSz cx="6858000" cy="9144000"/>
  <p:embeddedFontLst>
    <p:embeddedFont>
      <p:font typeface="Lora Medium"/>
      <p:regular r:id="rId44"/>
      <p:bold r:id="rId45"/>
      <p:italic r:id="rId46"/>
      <p:boldItalic r:id="rId47"/>
    </p:embeddedFont>
    <p:embeddedFont>
      <p:font typeface="Bebas Neue"/>
      <p:regular r:id="rId48"/>
    </p:embeddedFont>
    <p:embeddedFont>
      <p:font typeface="Lora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font" Target="fonts/LoraMedium-regular.fntdata"/><Relationship Id="rId43" Type="http://schemas.openxmlformats.org/officeDocument/2006/relationships/slide" Target="slides/slide37.xml"/><Relationship Id="rId46" Type="http://schemas.openxmlformats.org/officeDocument/2006/relationships/font" Target="fonts/LoraMedium-italic.fntdata"/><Relationship Id="rId45" Type="http://schemas.openxmlformats.org/officeDocument/2006/relationships/font" Target="fonts/Lora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BebasNeue-regular.fntdata"/><Relationship Id="rId47" Type="http://schemas.openxmlformats.org/officeDocument/2006/relationships/font" Target="fonts/LoraMedium-boldItalic.fntdata"/><Relationship Id="rId49" Type="http://schemas.openxmlformats.org/officeDocument/2006/relationships/font" Target="fonts/Lora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Lora-italic.fntdata"/><Relationship Id="rId50" Type="http://schemas.openxmlformats.org/officeDocument/2006/relationships/font" Target="fonts/Lora-bold.fntdata"/><Relationship Id="rId52" Type="http://schemas.openxmlformats.org/officeDocument/2006/relationships/font" Target="fonts/Lora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9c69fe5bb4_0_2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9c69fe5bb4_0_2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9c69fe5bb4_0_2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9c69fe5bb4_0_2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97df735d29_0_7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97df735d29_0_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Controls engineer has context.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place that a TA has us beat is in complete operational disruption.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9c69fe5bb4_0_19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9c69fe5bb4_0_19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97df735d2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97df735d2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988e3850d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988e3850d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 our assumptions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9c69fe5bb4_0_2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9c69fe5bb4_0_2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988e3850d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988e3850d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Sophisticated Malware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988e3850d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988e3850d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27 ton diesel generator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Protective breaker open and close rapidly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Similar to shifting into 1st gear on the highway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988e3850dd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988e3850d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988e3850d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988e3850d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9c69fe5bb4_0_2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9c69fe5bb4_0_2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988e3850dd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988e3850dd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988e3850dd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988e3850dd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988e3850dd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988e3850dd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995e49412f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995e49412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a219258c3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a219258c3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988e3850dd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988e3850dd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fail safety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62057e2b37b51bad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62057e2b37b51bad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fail safety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62057e2b37b51bad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62057e2b37b51bad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fail safety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62057e2b37b51bad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62057e2b37b51bad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fail safety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a2e886178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a2e88617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27 ton diesel generator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Protective breaker open and close rapidly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Similar to shifting into 1st gear on the highway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a2e886178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a2e886178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62057e2b37b51bad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62057e2b37b51bad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fail safety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62057e2b37b51bad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62057e2b37b51bad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fail safety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a219258c3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a219258c3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7005c9d7e0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7005c9d7e0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7005c9d7e0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7005c9d7e0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7005c9d7e0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7005c9d7e0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7005c9d7e0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7005c9d7e0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My opinion - This is the most critical piece of the puzzle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Crown jewel? Maybe, maybe not. Is dependant on situation.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7005c9d7e0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7005c9d7e0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7005c9d7e0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37005c9d7e0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SCADA systems provide context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this system do?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are the painpoints?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a2e886178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3a2e886178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My opinion - This is the most critical piece of the puzzle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Crown jewel? Maybe, maybe not. Is dependant on situation.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a2e886178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a2e886178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addition to CJA, </a:t>
            </a:r>
            <a:r>
              <a:rPr lang="en"/>
              <a:t>consider kinetic or safety systems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a2e886178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3a2e886178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fail safety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a2e886178e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3a2e886178e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fail safety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a2e886178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3a2e886178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fail safety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ctrTitle"/>
          </p:nvPr>
        </p:nvSpPr>
        <p:spPr>
          <a:xfrm>
            <a:off x="252325" y="849607"/>
            <a:ext cx="8520600" cy="20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b="1" sz="100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9pPr>
          </a:lstStyle>
          <a:p/>
        </p:txBody>
      </p:sp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311750" y="3973225"/>
            <a:ext cx="8520600" cy="4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ora"/>
              <a:buNone/>
              <a:defRPr sz="21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ora"/>
              <a:buNone/>
              <a:defRPr sz="21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ora"/>
              <a:buNone/>
              <a:defRPr sz="21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ora"/>
              <a:buNone/>
              <a:defRPr sz="21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ora"/>
              <a:buNone/>
              <a:defRPr sz="21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ora"/>
              <a:buNone/>
              <a:defRPr sz="21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ora"/>
              <a:buNone/>
              <a:defRPr sz="21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ora"/>
              <a:buNone/>
              <a:defRPr sz="21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ora"/>
              <a:buNone/>
              <a:defRPr sz="21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st introduction" type="secHead">
  <p:cSld name="SECTION_HEADER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>
            <p:ph idx="2" type="pic"/>
          </p:nvPr>
        </p:nvSpPr>
        <p:spPr>
          <a:xfrm>
            <a:off x="1380375" y="989850"/>
            <a:ext cx="3163800" cy="31638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5"/>
          <p:cNvSpPr txBox="1"/>
          <p:nvPr>
            <p:ph type="title"/>
          </p:nvPr>
        </p:nvSpPr>
        <p:spPr>
          <a:xfrm>
            <a:off x="4939275" y="1948632"/>
            <a:ext cx="2825400" cy="10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59" name="Google Shape;59;p15"/>
          <p:cNvSpPr txBox="1"/>
          <p:nvPr>
            <p:ph idx="1" type="subTitle"/>
          </p:nvPr>
        </p:nvSpPr>
        <p:spPr>
          <a:xfrm>
            <a:off x="4939275" y="1546075"/>
            <a:ext cx="2825400" cy="30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0" name="Google Shape;60;p15"/>
          <p:cNvSpPr txBox="1"/>
          <p:nvPr>
            <p:ph idx="3" type="body"/>
          </p:nvPr>
        </p:nvSpPr>
        <p:spPr>
          <a:xfrm>
            <a:off x="4939275" y="3043325"/>
            <a:ext cx="2825400" cy="5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layers introduction" type="tx">
  <p:cSld name="TITLE_AND_BODY">
    <p:bg>
      <p:bgPr>
        <a:solidFill>
          <a:schemeClr val="dk2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4625150" y="2282596"/>
            <a:ext cx="13443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5980200" y="1885950"/>
            <a:ext cx="13716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/>
          <p:nvPr>
            <p:ph idx="3" type="pic"/>
          </p:nvPr>
        </p:nvSpPr>
        <p:spPr>
          <a:xfrm>
            <a:off x="1792200" y="239625"/>
            <a:ext cx="1371600" cy="13716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5" name="Google Shape;65;p16"/>
          <p:cNvGrpSpPr/>
          <p:nvPr/>
        </p:nvGrpSpPr>
        <p:grpSpPr>
          <a:xfrm>
            <a:off x="1792200" y="1772950"/>
            <a:ext cx="5559600" cy="1597600"/>
            <a:chOff x="1807850" y="1773875"/>
            <a:chExt cx="5559600" cy="1597600"/>
          </a:xfrm>
        </p:grpSpPr>
        <p:cxnSp>
          <p:nvCxnSpPr>
            <p:cNvPr id="66" name="Google Shape;66;p16"/>
            <p:cNvCxnSpPr/>
            <p:nvPr/>
          </p:nvCxnSpPr>
          <p:spPr>
            <a:xfrm>
              <a:off x="1807850" y="1773875"/>
              <a:ext cx="55596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" name="Google Shape;67;p16"/>
            <p:cNvCxnSpPr/>
            <p:nvPr/>
          </p:nvCxnSpPr>
          <p:spPr>
            <a:xfrm>
              <a:off x="1807850" y="3371475"/>
              <a:ext cx="55596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8" name="Google Shape;68;p16"/>
          <p:cNvSpPr txBox="1"/>
          <p:nvPr>
            <p:ph type="title"/>
          </p:nvPr>
        </p:nvSpPr>
        <p:spPr>
          <a:xfrm>
            <a:off x="3183350" y="641533"/>
            <a:ext cx="2825400" cy="10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69" name="Google Shape;69;p16"/>
          <p:cNvSpPr txBox="1"/>
          <p:nvPr>
            <p:ph idx="4" type="subTitle"/>
          </p:nvPr>
        </p:nvSpPr>
        <p:spPr>
          <a:xfrm>
            <a:off x="3183350" y="237663"/>
            <a:ext cx="2825400" cy="30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0" name="Google Shape;70;p16"/>
          <p:cNvSpPr txBox="1"/>
          <p:nvPr>
            <p:ph idx="5" type="body"/>
          </p:nvPr>
        </p:nvSpPr>
        <p:spPr>
          <a:xfrm>
            <a:off x="6008750" y="636146"/>
            <a:ext cx="13443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9pPr>
          </a:lstStyle>
          <a:p/>
        </p:txBody>
      </p:sp>
      <p:sp>
        <p:nvSpPr>
          <p:cNvPr id="71" name="Google Shape;71;p16"/>
          <p:cNvSpPr txBox="1"/>
          <p:nvPr>
            <p:ph idx="6" type="title"/>
          </p:nvPr>
        </p:nvSpPr>
        <p:spPr>
          <a:xfrm>
            <a:off x="1799750" y="2287983"/>
            <a:ext cx="2825400" cy="10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72" name="Google Shape;72;p16"/>
          <p:cNvSpPr txBox="1"/>
          <p:nvPr>
            <p:ph idx="7" type="subTitle"/>
          </p:nvPr>
        </p:nvSpPr>
        <p:spPr>
          <a:xfrm>
            <a:off x="1799750" y="1884113"/>
            <a:ext cx="2825400" cy="30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3" name="Google Shape;73;p16"/>
          <p:cNvSpPr/>
          <p:nvPr>
            <p:ph idx="8" type="pic"/>
          </p:nvPr>
        </p:nvSpPr>
        <p:spPr>
          <a:xfrm>
            <a:off x="1792200" y="3489200"/>
            <a:ext cx="13716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6"/>
          <p:cNvSpPr txBox="1"/>
          <p:nvPr>
            <p:ph idx="9" type="title"/>
          </p:nvPr>
        </p:nvSpPr>
        <p:spPr>
          <a:xfrm>
            <a:off x="3183350" y="3893058"/>
            <a:ext cx="2825400" cy="10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75" name="Google Shape;75;p16"/>
          <p:cNvSpPr txBox="1"/>
          <p:nvPr>
            <p:ph idx="13" type="subTitle"/>
          </p:nvPr>
        </p:nvSpPr>
        <p:spPr>
          <a:xfrm>
            <a:off x="3183350" y="3489188"/>
            <a:ext cx="2825400" cy="30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6" name="Google Shape;76;p16"/>
          <p:cNvSpPr txBox="1"/>
          <p:nvPr>
            <p:ph idx="14" type="body"/>
          </p:nvPr>
        </p:nvSpPr>
        <p:spPr>
          <a:xfrm>
            <a:off x="6008750" y="3887671"/>
            <a:ext cx="13443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use rules" type="twoColTx">
  <p:cSld name="TITLE_AND_TWO_COLUMNS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983450" y="3424100"/>
            <a:ext cx="20877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2" type="body"/>
          </p:nvPr>
        </p:nvSpPr>
        <p:spPr>
          <a:xfrm>
            <a:off x="6808175" y="3424100"/>
            <a:ext cx="20877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3" type="body"/>
          </p:nvPr>
        </p:nvSpPr>
        <p:spPr>
          <a:xfrm>
            <a:off x="3895799" y="3424100"/>
            <a:ext cx="20877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type="title"/>
          </p:nvPr>
        </p:nvSpPr>
        <p:spPr>
          <a:xfrm>
            <a:off x="264450" y="212925"/>
            <a:ext cx="86151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w to play" type="titleOnly">
  <p:cSld name="TITLE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983450" y="3424100"/>
            <a:ext cx="20877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808175" y="3424101"/>
            <a:ext cx="20877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3895799" y="3424101"/>
            <a:ext cx="20877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983450" y="1695513"/>
            <a:ext cx="20877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5" type="body"/>
          </p:nvPr>
        </p:nvSpPr>
        <p:spPr>
          <a:xfrm>
            <a:off x="6808175" y="1695513"/>
            <a:ext cx="20877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6" type="body"/>
          </p:nvPr>
        </p:nvSpPr>
        <p:spPr>
          <a:xfrm>
            <a:off x="3895799" y="1695513"/>
            <a:ext cx="20877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type="title"/>
          </p:nvPr>
        </p:nvSpPr>
        <p:spPr>
          <a:xfrm>
            <a:off x="264450" y="212925"/>
            <a:ext cx="86151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ONE_COLUMN_TEXT">
    <p:bg>
      <p:bgPr>
        <a:solidFill>
          <a:schemeClr val="dk2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264450" y="1863150"/>
            <a:ext cx="8531400" cy="141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None/>
              <a:defRPr b="1" sz="10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stion &amp; Answer">
  <p:cSld name="MAIN_POIN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>
            <p:ph idx="1" type="body"/>
          </p:nvPr>
        </p:nvSpPr>
        <p:spPr>
          <a:xfrm>
            <a:off x="264600" y="3803900"/>
            <a:ext cx="2807400" cy="9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■"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2" type="body"/>
          </p:nvPr>
        </p:nvSpPr>
        <p:spPr>
          <a:xfrm>
            <a:off x="5966850" y="3803900"/>
            <a:ext cx="2807400" cy="9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■"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3" type="body"/>
          </p:nvPr>
        </p:nvSpPr>
        <p:spPr>
          <a:xfrm>
            <a:off x="3115725" y="3803900"/>
            <a:ext cx="2807400" cy="9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Lora Medium"/>
              <a:buChar char="■"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4" type="body"/>
          </p:nvPr>
        </p:nvSpPr>
        <p:spPr>
          <a:xfrm>
            <a:off x="264600" y="1344900"/>
            <a:ext cx="8614800" cy="14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50850" lvl="0" marL="457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●"/>
              <a:defRPr sz="3500">
                <a:latin typeface="Bebas Neue"/>
                <a:ea typeface="Bebas Neue"/>
                <a:cs typeface="Bebas Neue"/>
                <a:sym typeface="Bebas Neue"/>
              </a:defRPr>
            </a:lvl1pPr>
            <a:lvl2pPr indent="-45085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○"/>
              <a:defRPr sz="3500">
                <a:latin typeface="Bebas Neue"/>
                <a:ea typeface="Bebas Neue"/>
                <a:cs typeface="Bebas Neue"/>
                <a:sym typeface="Bebas Neue"/>
              </a:defRPr>
            </a:lvl2pPr>
            <a:lvl3pPr indent="-4508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■"/>
              <a:defRPr sz="3500">
                <a:latin typeface="Bebas Neue"/>
                <a:ea typeface="Bebas Neue"/>
                <a:cs typeface="Bebas Neue"/>
                <a:sym typeface="Bebas Neue"/>
              </a:defRPr>
            </a:lvl3pPr>
            <a:lvl4pPr indent="-45085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●"/>
              <a:defRPr sz="3500">
                <a:latin typeface="Bebas Neue"/>
                <a:ea typeface="Bebas Neue"/>
                <a:cs typeface="Bebas Neue"/>
                <a:sym typeface="Bebas Neue"/>
              </a:defRPr>
            </a:lvl4pPr>
            <a:lvl5pPr indent="-4508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○"/>
              <a:defRPr sz="3500">
                <a:latin typeface="Bebas Neue"/>
                <a:ea typeface="Bebas Neue"/>
                <a:cs typeface="Bebas Neue"/>
                <a:sym typeface="Bebas Neue"/>
              </a:defRPr>
            </a:lvl5pPr>
            <a:lvl6pPr indent="-45085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■"/>
              <a:defRPr sz="3500">
                <a:latin typeface="Bebas Neue"/>
                <a:ea typeface="Bebas Neue"/>
                <a:cs typeface="Bebas Neue"/>
                <a:sym typeface="Bebas Neue"/>
              </a:defRPr>
            </a:lvl6pPr>
            <a:lvl7pPr indent="-4508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●"/>
              <a:defRPr sz="3500">
                <a:latin typeface="Bebas Neue"/>
                <a:ea typeface="Bebas Neue"/>
                <a:cs typeface="Bebas Neue"/>
                <a:sym typeface="Bebas Neue"/>
              </a:defRPr>
            </a:lvl7pPr>
            <a:lvl8pPr indent="-45085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○"/>
              <a:defRPr sz="3500">
                <a:latin typeface="Bebas Neue"/>
                <a:ea typeface="Bebas Neue"/>
                <a:cs typeface="Bebas Neue"/>
                <a:sym typeface="Bebas Neue"/>
              </a:defRPr>
            </a:lvl8pPr>
            <a:lvl9pPr indent="-4508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■"/>
              <a:defRPr sz="3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7" name="Google Shape;97;p20"/>
          <p:cNvSpPr txBox="1"/>
          <p:nvPr>
            <p:ph idx="5" type="subTitle"/>
          </p:nvPr>
        </p:nvSpPr>
        <p:spPr>
          <a:xfrm>
            <a:off x="269562" y="307021"/>
            <a:ext cx="2825400" cy="30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anking">
  <p:cSld name="SECTION_TITLE_AND_DESCRIPTION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 txBox="1"/>
          <p:nvPr>
            <p:ph type="title"/>
          </p:nvPr>
        </p:nvSpPr>
        <p:spPr>
          <a:xfrm>
            <a:off x="6318600" y="576450"/>
            <a:ext cx="2578200" cy="10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00" name="Google Shape;100;p21"/>
          <p:cNvSpPr/>
          <p:nvPr>
            <p:ph idx="2" type="pic"/>
          </p:nvPr>
        </p:nvSpPr>
        <p:spPr>
          <a:xfrm>
            <a:off x="4883475" y="299125"/>
            <a:ext cx="13716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21"/>
          <p:cNvSpPr txBox="1"/>
          <p:nvPr>
            <p:ph idx="1" type="subTitle"/>
          </p:nvPr>
        </p:nvSpPr>
        <p:spPr>
          <a:xfrm>
            <a:off x="6318600" y="322425"/>
            <a:ext cx="2578200" cy="30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cxnSp>
        <p:nvCxnSpPr>
          <p:cNvPr id="102" name="Google Shape;102;p21"/>
          <p:cNvCxnSpPr/>
          <p:nvPr/>
        </p:nvCxnSpPr>
        <p:spPr>
          <a:xfrm>
            <a:off x="285575" y="1807575"/>
            <a:ext cx="8611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" name="Google Shape;103;p21"/>
          <p:cNvCxnSpPr/>
          <p:nvPr/>
        </p:nvCxnSpPr>
        <p:spPr>
          <a:xfrm>
            <a:off x="285575" y="3456775"/>
            <a:ext cx="8611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" name="Google Shape;104;p21"/>
          <p:cNvSpPr txBox="1"/>
          <p:nvPr>
            <p:ph idx="3" type="title"/>
          </p:nvPr>
        </p:nvSpPr>
        <p:spPr>
          <a:xfrm>
            <a:off x="6318600" y="2223700"/>
            <a:ext cx="2578200" cy="10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05" name="Google Shape;105;p21"/>
          <p:cNvSpPr/>
          <p:nvPr>
            <p:ph idx="4" type="pic"/>
          </p:nvPr>
        </p:nvSpPr>
        <p:spPr>
          <a:xfrm>
            <a:off x="4883475" y="1946375"/>
            <a:ext cx="13716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21"/>
          <p:cNvSpPr txBox="1"/>
          <p:nvPr>
            <p:ph idx="5" type="subTitle"/>
          </p:nvPr>
        </p:nvSpPr>
        <p:spPr>
          <a:xfrm>
            <a:off x="6318600" y="1969675"/>
            <a:ext cx="2578200" cy="30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7" name="Google Shape;107;p21"/>
          <p:cNvSpPr txBox="1"/>
          <p:nvPr>
            <p:ph idx="6" type="title"/>
          </p:nvPr>
        </p:nvSpPr>
        <p:spPr>
          <a:xfrm>
            <a:off x="6318600" y="3870950"/>
            <a:ext cx="2578200" cy="10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08" name="Google Shape;108;p21"/>
          <p:cNvSpPr/>
          <p:nvPr>
            <p:ph idx="7" type="pic"/>
          </p:nvPr>
        </p:nvSpPr>
        <p:spPr>
          <a:xfrm>
            <a:off x="4883475" y="3593625"/>
            <a:ext cx="13716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1"/>
          <p:cNvSpPr txBox="1"/>
          <p:nvPr>
            <p:ph idx="8" type="subTitle"/>
          </p:nvPr>
        </p:nvSpPr>
        <p:spPr>
          <a:xfrm>
            <a:off x="6318600" y="3616925"/>
            <a:ext cx="2578200" cy="30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0" name="Google Shape;110;p21"/>
          <p:cNvSpPr txBox="1"/>
          <p:nvPr>
            <p:ph idx="9" type="title"/>
          </p:nvPr>
        </p:nvSpPr>
        <p:spPr>
          <a:xfrm>
            <a:off x="137800" y="3511325"/>
            <a:ext cx="4782300" cy="11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1" name="Google Shape;111;p21"/>
          <p:cNvSpPr txBox="1"/>
          <p:nvPr>
            <p:ph idx="13" type="title"/>
          </p:nvPr>
        </p:nvSpPr>
        <p:spPr>
          <a:xfrm>
            <a:off x="137800" y="1877950"/>
            <a:ext cx="4782300" cy="11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2" name="Google Shape;112;p21"/>
          <p:cNvSpPr txBox="1"/>
          <p:nvPr>
            <p:ph idx="14" type="title"/>
          </p:nvPr>
        </p:nvSpPr>
        <p:spPr>
          <a:xfrm>
            <a:off x="137800" y="212925"/>
            <a:ext cx="4782300" cy="11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APTION_ONLY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264450" y="1863150"/>
            <a:ext cx="8531400" cy="141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b="1" sz="10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b="1" sz="10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b="1" sz="10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b="1" sz="10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b="1" sz="10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b="1" sz="10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b="1" sz="10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b="1" sz="10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b="1" sz="10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IG_NUMBER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264450" y="212925"/>
            <a:ext cx="86151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MAIN_POINT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5"/>
          <p:cNvSpPr txBox="1"/>
          <p:nvPr>
            <p:ph idx="1" type="body"/>
          </p:nvPr>
        </p:nvSpPr>
        <p:spPr>
          <a:xfrm>
            <a:off x="264600" y="2229825"/>
            <a:ext cx="8614800" cy="255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50850" lvl="0" marL="457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●"/>
              <a:defRPr sz="3500">
                <a:latin typeface="Bebas Neue"/>
                <a:ea typeface="Bebas Neue"/>
                <a:cs typeface="Bebas Neue"/>
                <a:sym typeface="Bebas Neue"/>
              </a:defRPr>
            </a:lvl1pPr>
            <a:lvl2pPr indent="-45085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○"/>
              <a:defRPr sz="3500">
                <a:latin typeface="Bebas Neue"/>
                <a:ea typeface="Bebas Neue"/>
                <a:cs typeface="Bebas Neue"/>
                <a:sym typeface="Bebas Neue"/>
              </a:defRPr>
            </a:lvl2pPr>
            <a:lvl3pPr indent="-4508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■"/>
              <a:defRPr sz="3500">
                <a:latin typeface="Bebas Neue"/>
                <a:ea typeface="Bebas Neue"/>
                <a:cs typeface="Bebas Neue"/>
                <a:sym typeface="Bebas Neue"/>
              </a:defRPr>
            </a:lvl3pPr>
            <a:lvl4pPr indent="-45085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●"/>
              <a:defRPr sz="3500">
                <a:latin typeface="Bebas Neue"/>
                <a:ea typeface="Bebas Neue"/>
                <a:cs typeface="Bebas Neue"/>
                <a:sym typeface="Bebas Neue"/>
              </a:defRPr>
            </a:lvl4pPr>
            <a:lvl5pPr indent="-4508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○"/>
              <a:defRPr sz="3500">
                <a:latin typeface="Bebas Neue"/>
                <a:ea typeface="Bebas Neue"/>
                <a:cs typeface="Bebas Neue"/>
                <a:sym typeface="Bebas Neue"/>
              </a:defRPr>
            </a:lvl5pPr>
            <a:lvl6pPr indent="-45085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■"/>
              <a:defRPr sz="3500">
                <a:latin typeface="Bebas Neue"/>
                <a:ea typeface="Bebas Neue"/>
                <a:cs typeface="Bebas Neue"/>
                <a:sym typeface="Bebas Neue"/>
              </a:defRPr>
            </a:lvl6pPr>
            <a:lvl7pPr indent="-4508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●"/>
              <a:defRPr sz="3500">
                <a:latin typeface="Bebas Neue"/>
                <a:ea typeface="Bebas Neue"/>
                <a:cs typeface="Bebas Neue"/>
                <a:sym typeface="Bebas Neue"/>
              </a:defRPr>
            </a:lvl7pPr>
            <a:lvl8pPr indent="-45085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○"/>
              <a:defRPr sz="3500">
                <a:latin typeface="Bebas Neue"/>
                <a:ea typeface="Bebas Neue"/>
                <a:cs typeface="Bebas Neue"/>
                <a:sym typeface="Bebas Neue"/>
              </a:defRPr>
            </a:lvl8pPr>
            <a:lvl9pPr indent="-4508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Char char="■"/>
              <a:defRPr sz="3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0" name="Google Shape;120;p25"/>
          <p:cNvSpPr txBox="1"/>
          <p:nvPr>
            <p:ph type="title"/>
          </p:nvPr>
        </p:nvSpPr>
        <p:spPr>
          <a:xfrm>
            <a:off x="264450" y="212925"/>
            <a:ext cx="86151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6"/>
          <p:cNvSpPr txBox="1"/>
          <p:nvPr>
            <p:ph idx="1" type="body"/>
          </p:nvPr>
        </p:nvSpPr>
        <p:spPr>
          <a:xfrm>
            <a:off x="285575" y="3424100"/>
            <a:ext cx="42117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23" name="Google Shape;123;p26"/>
          <p:cNvSpPr txBox="1"/>
          <p:nvPr>
            <p:ph idx="2" type="body"/>
          </p:nvPr>
        </p:nvSpPr>
        <p:spPr>
          <a:xfrm>
            <a:off x="4689079" y="3424100"/>
            <a:ext cx="42117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24" name="Google Shape;124;p26"/>
          <p:cNvSpPr txBox="1"/>
          <p:nvPr>
            <p:ph type="title"/>
          </p:nvPr>
        </p:nvSpPr>
        <p:spPr>
          <a:xfrm>
            <a:off x="264450" y="212925"/>
            <a:ext cx="86151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7" name="Google Shape;127;p2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8" name="Google Shape;12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32" name="Google Shape;132;p2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3" name="Google Shape;133;p2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>
                <a:solidFill>
                  <a:schemeClr val="dk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>
                <a:solidFill>
                  <a:schemeClr val="dk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>
                <a:solidFill>
                  <a:schemeClr val="dk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>
                <a:solidFill>
                  <a:schemeClr val="dk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>
                <a:solidFill>
                  <a:schemeClr val="dk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>
                <a:solidFill>
                  <a:schemeClr val="dk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>
                <a:solidFill>
                  <a:schemeClr val="dk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>
                <a:solidFill>
                  <a:schemeClr val="dk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SECTION_HEADER_1_1">
    <p:bg>
      <p:bgPr>
        <a:solidFill>
          <a:schemeClr val="dk2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9"/>
          <p:cNvSpPr txBox="1"/>
          <p:nvPr>
            <p:ph idx="1" type="body"/>
          </p:nvPr>
        </p:nvSpPr>
        <p:spPr>
          <a:xfrm>
            <a:off x="285575" y="3424100"/>
            <a:ext cx="4211700" cy="135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Char char="●"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Char char="○"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Char char="■"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Char char="●"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Char char="○"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Char char="■"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Char char="●"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Char char="○"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Char char="■"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SECTION_HEADER_1_2">
    <p:bg>
      <p:bgPr>
        <a:solidFill>
          <a:schemeClr val="dk2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 txBox="1"/>
          <p:nvPr>
            <p:ph type="title"/>
          </p:nvPr>
        </p:nvSpPr>
        <p:spPr>
          <a:xfrm>
            <a:off x="2962275" y="1546075"/>
            <a:ext cx="3219600" cy="10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39" name="Google Shape;139;p30"/>
          <p:cNvSpPr txBox="1"/>
          <p:nvPr>
            <p:ph idx="1" type="body"/>
          </p:nvPr>
        </p:nvSpPr>
        <p:spPr>
          <a:xfrm>
            <a:off x="2962275" y="2680025"/>
            <a:ext cx="3219600" cy="9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TITLE_ONLY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type="title"/>
          </p:nvPr>
        </p:nvSpPr>
        <p:spPr>
          <a:xfrm>
            <a:off x="264450" y="212925"/>
            <a:ext cx="86151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2" name="Google Shape;142;p31"/>
          <p:cNvSpPr txBox="1"/>
          <p:nvPr>
            <p:ph idx="1" type="subTitle"/>
          </p:nvPr>
        </p:nvSpPr>
        <p:spPr>
          <a:xfrm>
            <a:off x="4689075" y="1695525"/>
            <a:ext cx="42117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3" name="Google Shape;143;p31"/>
          <p:cNvSpPr txBox="1"/>
          <p:nvPr>
            <p:ph idx="2" type="subTitle"/>
          </p:nvPr>
        </p:nvSpPr>
        <p:spPr>
          <a:xfrm>
            <a:off x="4689075" y="4476488"/>
            <a:ext cx="42117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4" name="Google Shape;144;p31"/>
          <p:cNvSpPr txBox="1"/>
          <p:nvPr>
            <p:ph idx="3" type="subTitle"/>
          </p:nvPr>
        </p:nvSpPr>
        <p:spPr>
          <a:xfrm>
            <a:off x="285575" y="1695525"/>
            <a:ext cx="42117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5" name="Google Shape;145;p31"/>
          <p:cNvSpPr txBox="1"/>
          <p:nvPr>
            <p:ph idx="4" type="subTitle"/>
          </p:nvPr>
        </p:nvSpPr>
        <p:spPr>
          <a:xfrm>
            <a:off x="285575" y="4476488"/>
            <a:ext cx="42117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6" name="Google Shape;146;p31"/>
          <p:cNvSpPr txBox="1"/>
          <p:nvPr>
            <p:ph idx="5" type="subTitle"/>
          </p:nvPr>
        </p:nvSpPr>
        <p:spPr>
          <a:xfrm>
            <a:off x="4689075" y="3086000"/>
            <a:ext cx="42117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7" name="Google Shape;147;p31"/>
          <p:cNvSpPr txBox="1"/>
          <p:nvPr>
            <p:ph idx="6" type="subTitle"/>
          </p:nvPr>
        </p:nvSpPr>
        <p:spPr>
          <a:xfrm>
            <a:off x="285575" y="3086000"/>
            <a:ext cx="42117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SECTION_HEADER_2">
    <p:bg>
      <p:bgPr>
        <a:solidFill>
          <a:schemeClr val="dk2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/>
          <p:nvPr>
            <p:ph idx="2" type="pic"/>
          </p:nvPr>
        </p:nvSpPr>
        <p:spPr>
          <a:xfrm>
            <a:off x="1380375" y="989850"/>
            <a:ext cx="3163800" cy="3163800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32"/>
          <p:cNvSpPr txBox="1"/>
          <p:nvPr>
            <p:ph type="title"/>
          </p:nvPr>
        </p:nvSpPr>
        <p:spPr>
          <a:xfrm>
            <a:off x="4939275" y="1546082"/>
            <a:ext cx="2825400" cy="10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51" name="Google Shape;151;p32"/>
          <p:cNvSpPr txBox="1"/>
          <p:nvPr>
            <p:ph idx="1" type="body"/>
          </p:nvPr>
        </p:nvSpPr>
        <p:spPr>
          <a:xfrm>
            <a:off x="4939275" y="2640775"/>
            <a:ext cx="2825400" cy="9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ITLE_AND_TWO_COLUMNS_2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3"/>
          <p:cNvSpPr txBox="1"/>
          <p:nvPr>
            <p:ph type="title"/>
          </p:nvPr>
        </p:nvSpPr>
        <p:spPr>
          <a:xfrm>
            <a:off x="264450" y="212925"/>
            <a:ext cx="86151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4" name="Google Shape;154;p33"/>
          <p:cNvSpPr txBox="1"/>
          <p:nvPr>
            <p:ph idx="1" type="body"/>
          </p:nvPr>
        </p:nvSpPr>
        <p:spPr>
          <a:xfrm>
            <a:off x="4689075" y="3725900"/>
            <a:ext cx="42117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55" name="Google Shape;155;p33"/>
          <p:cNvSpPr txBox="1"/>
          <p:nvPr>
            <p:ph idx="2" type="subTitle"/>
          </p:nvPr>
        </p:nvSpPr>
        <p:spPr>
          <a:xfrm>
            <a:off x="4689075" y="3424100"/>
            <a:ext cx="42117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6" name="Google Shape;156;p33"/>
          <p:cNvSpPr txBox="1"/>
          <p:nvPr>
            <p:ph idx="3" type="body"/>
          </p:nvPr>
        </p:nvSpPr>
        <p:spPr>
          <a:xfrm>
            <a:off x="285575" y="3725900"/>
            <a:ext cx="42117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57" name="Google Shape;157;p33"/>
          <p:cNvSpPr txBox="1"/>
          <p:nvPr>
            <p:ph idx="4" type="subTitle"/>
          </p:nvPr>
        </p:nvSpPr>
        <p:spPr>
          <a:xfrm>
            <a:off x="285575" y="3424100"/>
            <a:ext cx="42117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ITLE_AND_TWO_COLUMNS_2_2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4"/>
          <p:cNvSpPr txBox="1"/>
          <p:nvPr>
            <p:ph type="title"/>
          </p:nvPr>
        </p:nvSpPr>
        <p:spPr>
          <a:xfrm>
            <a:off x="264450" y="212925"/>
            <a:ext cx="86151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0" name="Google Shape;160;p34"/>
          <p:cNvSpPr txBox="1"/>
          <p:nvPr>
            <p:ph idx="1" type="body"/>
          </p:nvPr>
        </p:nvSpPr>
        <p:spPr>
          <a:xfrm>
            <a:off x="285575" y="3725900"/>
            <a:ext cx="27855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61" name="Google Shape;161;p34"/>
          <p:cNvSpPr txBox="1"/>
          <p:nvPr>
            <p:ph idx="2" type="subTitle"/>
          </p:nvPr>
        </p:nvSpPr>
        <p:spPr>
          <a:xfrm>
            <a:off x="285575" y="3424100"/>
            <a:ext cx="27855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2" name="Google Shape;162;p34"/>
          <p:cNvSpPr txBox="1"/>
          <p:nvPr>
            <p:ph idx="3" type="body"/>
          </p:nvPr>
        </p:nvSpPr>
        <p:spPr>
          <a:xfrm>
            <a:off x="6115275" y="3725900"/>
            <a:ext cx="27855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63" name="Google Shape;163;p34"/>
          <p:cNvSpPr txBox="1"/>
          <p:nvPr>
            <p:ph idx="4" type="subTitle"/>
          </p:nvPr>
        </p:nvSpPr>
        <p:spPr>
          <a:xfrm>
            <a:off x="6115275" y="3424100"/>
            <a:ext cx="27855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4" name="Google Shape;164;p34"/>
          <p:cNvSpPr txBox="1"/>
          <p:nvPr>
            <p:ph idx="5" type="body"/>
          </p:nvPr>
        </p:nvSpPr>
        <p:spPr>
          <a:xfrm>
            <a:off x="3200425" y="3725900"/>
            <a:ext cx="27855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65" name="Google Shape;165;p34"/>
          <p:cNvSpPr txBox="1"/>
          <p:nvPr>
            <p:ph idx="6" type="subTitle"/>
          </p:nvPr>
        </p:nvSpPr>
        <p:spPr>
          <a:xfrm>
            <a:off x="3200425" y="3424100"/>
            <a:ext cx="27855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TITLE_AND_TWO_COLUMNS_2_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5"/>
          <p:cNvSpPr txBox="1"/>
          <p:nvPr>
            <p:ph idx="1" type="body"/>
          </p:nvPr>
        </p:nvSpPr>
        <p:spPr>
          <a:xfrm>
            <a:off x="4689075" y="1997325"/>
            <a:ext cx="42117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68" name="Google Shape;168;p35"/>
          <p:cNvSpPr txBox="1"/>
          <p:nvPr>
            <p:ph type="title"/>
          </p:nvPr>
        </p:nvSpPr>
        <p:spPr>
          <a:xfrm>
            <a:off x="264450" y="212925"/>
            <a:ext cx="86151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9" name="Google Shape;169;p35"/>
          <p:cNvSpPr txBox="1"/>
          <p:nvPr>
            <p:ph idx="2" type="subTitle"/>
          </p:nvPr>
        </p:nvSpPr>
        <p:spPr>
          <a:xfrm>
            <a:off x="4689075" y="1695525"/>
            <a:ext cx="42117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0" name="Google Shape;170;p35"/>
          <p:cNvSpPr txBox="1"/>
          <p:nvPr>
            <p:ph idx="3" type="body"/>
          </p:nvPr>
        </p:nvSpPr>
        <p:spPr>
          <a:xfrm>
            <a:off x="4689075" y="3725900"/>
            <a:ext cx="42117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71" name="Google Shape;171;p35"/>
          <p:cNvSpPr txBox="1"/>
          <p:nvPr>
            <p:ph idx="4" type="subTitle"/>
          </p:nvPr>
        </p:nvSpPr>
        <p:spPr>
          <a:xfrm>
            <a:off x="4689075" y="3424100"/>
            <a:ext cx="42117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2" name="Google Shape;172;p35"/>
          <p:cNvSpPr txBox="1"/>
          <p:nvPr>
            <p:ph idx="5" type="body"/>
          </p:nvPr>
        </p:nvSpPr>
        <p:spPr>
          <a:xfrm>
            <a:off x="285575" y="1997325"/>
            <a:ext cx="42117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73" name="Google Shape;173;p35"/>
          <p:cNvSpPr txBox="1"/>
          <p:nvPr>
            <p:ph idx="6" type="subTitle"/>
          </p:nvPr>
        </p:nvSpPr>
        <p:spPr>
          <a:xfrm>
            <a:off x="285575" y="1695525"/>
            <a:ext cx="42117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4" name="Google Shape;174;p35"/>
          <p:cNvSpPr txBox="1"/>
          <p:nvPr>
            <p:ph idx="7" type="body"/>
          </p:nvPr>
        </p:nvSpPr>
        <p:spPr>
          <a:xfrm>
            <a:off x="285575" y="3725900"/>
            <a:ext cx="42117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75" name="Google Shape;175;p35"/>
          <p:cNvSpPr txBox="1"/>
          <p:nvPr>
            <p:ph idx="8" type="subTitle"/>
          </p:nvPr>
        </p:nvSpPr>
        <p:spPr>
          <a:xfrm>
            <a:off x="285575" y="3424100"/>
            <a:ext cx="4211700" cy="3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SECTION_HEADER_2_1">
    <p:bg>
      <p:bgPr>
        <a:solidFill>
          <a:schemeClr val="dk2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6"/>
          <p:cNvSpPr/>
          <p:nvPr>
            <p:ph idx="2" type="pic"/>
          </p:nvPr>
        </p:nvSpPr>
        <p:spPr>
          <a:xfrm>
            <a:off x="5715750" y="1614500"/>
            <a:ext cx="3163800" cy="31638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36"/>
          <p:cNvSpPr txBox="1"/>
          <p:nvPr>
            <p:ph type="title"/>
          </p:nvPr>
        </p:nvSpPr>
        <p:spPr>
          <a:xfrm>
            <a:off x="264450" y="212925"/>
            <a:ext cx="86151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ITLE_AND_BODY_1_1">
    <p:bg>
      <p:bgPr>
        <a:solidFill>
          <a:schemeClr val="dk2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7"/>
          <p:cNvSpPr txBox="1"/>
          <p:nvPr>
            <p:ph idx="1" type="body"/>
          </p:nvPr>
        </p:nvSpPr>
        <p:spPr>
          <a:xfrm>
            <a:off x="3347475" y="3368198"/>
            <a:ext cx="4168500" cy="14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9pPr>
          </a:lstStyle>
          <a:p/>
        </p:txBody>
      </p:sp>
      <p:sp>
        <p:nvSpPr>
          <p:cNvPr id="181" name="Google Shape;181;p37"/>
          <p:cNvSpPr/>
          <p:nvPr>
            <p:ph idx="2" type="pic"/>
          </p:nvPr>
        </p:nvSpPr>
        <p:spPr>
          <a:xfrm>
            <a:off x="7527925" y="2760977"/>
            <a:ext cx="1371600" cy="20997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37"/>
          <p:cNvSpPr/>
          <p:nvPr>
            <p:ph idx="3" type="pic"/>
          </p:nvPr>
        </p:nvSpPr>
        <p:spPr>
          <a:xfrm>
            <a:off x="3339925" y="240660"/>
            <a:ext cx="1371600" cy="20997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37"/>
          <p:cNvSpPr txBox="1"/>
          <p:nvPr>
            <p:ph type="title"/>
          </p:nvPr>
        </p:nvSpPr>
        <p:spPr>
          <a:xfrm>
            <a:off x="285575" y="237683"/>
            <a:ext cx="2825400" cy="10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84" name="Google Shape;184;p37"/>
          <p:cNvSpPr txBox="1"/>
          <p:nvPr>
            <p:ph idx="4" type="subTitle"/>
          </p:nvPr>
        </p:nvSpPr>
        <p:spPr>
          <a:xfrm>
            <a:off x="4731075" y="237675"/>
            <a:ext cx="4168500" cy="46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cxnSp>
        <p:nvCxnSpPr>
          <p:cNvPr id="185" name="Google Shape;185;p37"/>
          <p:cNvCxnSpPr/>
          <p:nvPr/>
        </p:nvCxnSpPr>
        <p:spPr>
          <a:xfrm>
            <a:off x="3339925" y="2587988"/>
            <a:ext cx="5559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" name="Google Shape;186;p37"/>
          <p:cNvSpPr txBox="1"/>
          <p:nvPr>
            <p:ph idx="5" type="body"/>
          </p:nvPr>
        </p:nvSpPr>
        <p:spPr>
          <a:xfrm>
            <a:off x="4731075" y="847690"/>
            <a:ext cx="4168500" cy="14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9pPr>
          </a:lstStyle>
          <a:p/>
        </p:txBody>
      </p:sp>
      <p:sp>
        <p:nvSpPr>
          <p:cNvPr id="187" name="Google Shape;187;p37"/>
          <p:cNvSpPr txBox="1"/>
          <p:nvPr>
            <p:ph idx="6" type="subTitle"/>
          </p:nvPr>
        </p:nvSpPr>
        <p:spPr>
          <a:xfrm>
            <a:off x="3347475" y="2758183"/>
            <a:ext cx="4168500" cy="46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ITLE_AND_BODY_1">
    <p:bg>
      <p:bgPr>
        <a:solidFill>
          <a:schemeClr val="dk2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8"/>
          <p:cNvSpPr txBox="1"/>
          <p:nvPr>
            <p:ph idx="1" type="body"/>
          </p:nvPr>
        </p:nvSpPr>
        <p:spPr>
          <a:xfrm>
            <a:off x="3347475" y="2282600"/>
            <a:ext cx="41685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9pPr>
          </a:lstStyle>
          <a:p/>
        </p:txBody>
      </p:sp>
      <p:sp>
        <p:nvSpPr>
          <p:cNvPr id="190" name="Google Shape;190;p38"/>
          <p:cNvSpPr/>
          <p:nvPr>
            <p:ph idx="2" type="pic"/>
          </p:nvPr>
        </p:nvSpPr>
        <p:spPr>
          <a:xfrm>
            <a:off x="7527925" y="1885950"/>
            <a:ext cx="13716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38"/>
          <p:cNvSpPr/>
          <p:nvPr>
            <p:ph idx="3" type="pic"/>
          </p:nvPr>
        </p:nvSpPr>
        <p:spPr>
          <a:xfrm>
            <a:off x="3339925" y="239625"/>
            <a:ext cx="1371600" cy="13716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92" name="Google Shape;192;p38"/>
          <p:cNvGrpSpPr/>
          <p:nvPr/>
        </p:nvGrpSpPr>
        <p:grpSpPr>
          <a:xfrm>
            <a:off x="3339925" y="1772950"/>
            <a:ext cx="5559600" cy="1597600"/>
            <a:chOff x="1807850" y="1773875"/>
            <a:chExt cx="5559600" cy="1597600"/>
          </a:xfrm>
        </p:grpSpPr>
        <p:cxnSp>
          <p:nvCxnSpPr>
            <p:cNvPr id="193" name="Google Shape;193;p38"/>
            <p:cNvCxnSpPr/>
            <p:nvPr/>
          </p:nvCxnSpPr>
          <p:spPr>
            <a:xfrm>
              <a:off x="1807850" y="1773875"/>
              <a:ext cx="55596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4" name="Google Shape;194;p38"/>
            <p:cNvCxnSpPr/>
            <p:nvPr/>
          </p:nvCxnSpPr>
          <p:spPr>
            <a:xfrm>
              <a:off x="1807850" y="3371475"/>
              <a:ext cx="55596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5" name="Google Shape;195;p38"/>
          <p:cNvSpPr txBox="1"/>
          <p:nvPr>
            <p:ph type="title"/>
          </p:nvPr>
        </p:nvSpPr>
        <p:spPr>
          <a:xfrm>
            <a:off x="285575" y="237683"/>
            <a:ext cx="2825400" cy="10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96" name="Google Shape;196;p38"/>
          <p:cNvSpPr txBox="1"/>
          <p:nvPr>
            <p:ph idx="4" type="subTitle"/>
          </p:nvPr>
        </p:nvSpPr>
        <p:spPr>
          <a:xfrm>
            <a:off x="4731075" y="237675"/>
            <a:ext cx="4168500" cy="30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7" name="Google Shape;197;p38"/>
          <p:cNvSpPr txBox="1"/>
          <p:nvPr>
            <p:ph idx="5" type="body"/>
          </p:nvPr>
        </p:nvSpPr>
        <p:spPr>
          <a:xfrm>
            <a:off x="4731075" y="636150"/>
            <a:ext cx="4168500" cy="9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9pPr>
          </a:lstStyle>
          <a:p/>
        </p:txBody>
      </p:sp>
      <p:sp>
        <p:nvSpPr>
          <p:cNvPr id="198" name="Google Shape;198;p38"/>
          <p:cNvSpPr txBox="1"/>
          <p:nvPr>
            <p:ph idx="6" type="subTitle"/>
          </p:nvPr>
        </p:nvSpPr>
        <p:spPr>
          <a:xfrm>
            <a:off x="3347475" y="1884125"/>
            <a:ext cx="4168500" cy="30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9" name="Google Shape;199;p38"/>
          <p:cNvSpPr/>
          <p:nvPr>
            <p:ph idx="7" type="pic"/>
          </p:nvPr>
        </p:nvSpPr>
        <p:spPr>
          <a:xfrm>
            <a:off x="3339925" y="3489200"/>
            <a:ext cx="13716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38"/>
          <p:cNvSpPr txBox="1"/>
          <p:nvPr>
            <p:ph idx="8" type="subTitle"/>
          </p:nvPr>
        </p:nvSpPr>
        <p:spPr>
          <a:xfrm>
            <a:off x="4731075" y="3489200"/>
            <a:ext cx="4168500" cy="30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1" name="Google Shape;201;p38"/>
          <p:cNvSpPr txBox="1"/>
          <p:nvPr>
            <p:ph idx="9" type="body"/>
          </p:nvPr>
        </p:nvSpPr>
        <p:spPr>
          <a:xfrm>
            <a:off x="4731075" y="3887675"/>
            <a:ext cx="41685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ora Medium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SECTION_HEADER_2_1_1">
    <p:bg>
      <p:bgPr>
        <a:solidFill>
          <a:schemeClr val="dk2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9"/>
          <p:cNvSpPr/>
          <p:nvPr>
            <p:ph idx="2" type="pic"/>
          </p:nvPr>
        </p:nvSpPr>
        <p:spPr>
          <a:xfrm>
            <a:off x="264450" y="212925"/>
            <a:ext cx="8615100" cy="471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TITLE_AND_TWO_COLUMNS_2_2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0"/>
          <p:cNvSpPr/>
          <p:nvPr>
            <p:ph idx="2" type="pic"/>
          </p:nvPr>
        </p:nvSpPr>
        <p:spPr>
          <a:xfrm>
            <a:off x="1193350" y="3424100"/>
            <a:ext cx="1353300" cy="13542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40"/>
          <p:cNvSpPr txBox="1"/>
          <p:nvPr>
            <p:ph type="title"/>
          </p:nvPr>
        </p:nvSpPr>
        <p:spPr>
          <a:xfrm>
            <a:off x="264450" y="212925"/>
            <a:ext cx="86151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7" name="Google Shape;207;p40"/>
          <p:cNvSpPr/>
          <p:nvPr>
            <p:ph idx="3" type="pic"/>
          </p:nvPr>
        </p:nvSpPr>
        <p:spPr>
          <a:xfrm>
            <a:off x="3008813" y="3424100"/>
            <a:ext cx="1353300" cy="13542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40"/>
          <p:cNvSpPr/>
          <p:nvPr>
            <p:ph idx="4" type="pic"/>
          </p:nvPr>
        </p:nvSpPr>
        <p:spPr>
          <a:xfrm>
            <a:off x="6639738" y="3424100"/>
            <a:ext cx="1353300" cy="1354200"/>
          </a:xfrm>
          <a:prstGeom prst="rect">
            <a:avLst/>
          </a:prstGeom>
          <a:noFill/>
          <a:ln>
            <a:noFill/>
          </a:ln>
        </p:spPr>
      </p:sp>
      <p:sp>
        <p:nvSpPr>
          <p:cNvPr id="209" name="Google Shape;209;p40"/>
          <p:cNvSpPr/>
          <p:nvPr>
            <p:ph idx="5" type="pic"/>
          </p:nvPr>
        </p:nvSpPr>
        <p:spPr>
          <a:xfrm>
            <a:off x="4824275" y="3424100"/>
            <a:ext cx="1353300" cy="1354200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40"/>
          <p:cNvSpPr/>
          <p:nvPr>
            <p:ph idx="6" type="pic"/>
          </p:nvPr>
        </p:nvSpPr>
        <p:spPr>
          <a:xfrm>
            <a:off x="285625" y="1695513"/>
            <a:ext cx="1353300" cy="1354200"/>
          </a:xfrm>
          <a:prstGeom prst="rect">
            <a:avLst/>
          </a:prstGeom>
          <a:noFill/>
          <a:ln>
            <a:noFill/>
          </a:ln>
        </p:spPr>
      </p:sp>
      <p:sp>
        <p:nvSpPr>
          <p:cNvPr id="211" name="Google Shape;211;p40"/>
          <p:cNvSpPr/>
          <p:nvPr>
            <p:ph idx="7" type="pic"/>
          </p:nvPr>
        </p:nvSpPr>
        <p:spPr>
          <a:xfrm>
            <a:off x="2101088" y="1695513"/>
            <a:ext cx="1353300" cy="1354200"/>
          </a:xfrm>
          <a:prstGeom prst="rect">
            <a:avLst/>
          </a:prstGeom>
          <a:noFill/>
          <a:ln>
            <a:noFill/>
          </a:ln>
        </p:spPr>
      </p:sp>
      <p:sp>
        <p:nvSpPr>
          <p:cNvPr id="212" name="Google Shape;212;p40"/>
          <p:cNvSpPr/>
          <p:nvPr>
            <p:ph idx="8" type="pic"/>
          </p:nvPr>
        </p:nvSpPr>
        <p:spPr>
          <a:xfrm>
            <a:off x="5732013" y="1695513"/>
            <a:ext cx="1353300" cy="1354200"/>
          </a:xfrm>
          <a:prstGeom prst="rect">
            <a:avLst/>
          </a:prstGeom>
          <a:noFill/>
          <a:ln>
            <a:noFill/>
          </a:ln>
        </p:spPr>
      </p:sp>
      <p:sp>
        <p:nvSpPr>
          <p:cNvPr id="213" name="Google Shape;213;p40"/>
          <p:cNvSpPr/>
          <p:nvPr>
            <p:ph idx="9" type="pic"/>
          </p:nvPr>
        </p:nvSpPr>
        <p:spPr>
          <a:xfrm>
            <a:off x="3916550" y="1695513"/>
            <a:ext cx="1353300" cy="1354200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40"/>
          <p:cNvSpPr/>
          <p:nvPr>
            <p:ph idx="13" type="pic"/>
          </p:nvPr>
        </p:nvSpPr>
        <p:spPr>
          <a:xfrm>
            <a:off x="7547475" y="1695513"/>
            <a:ext cx="1353300" cy="1354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theme" Target="../theme/theme3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64600" y="212925"/>
            <a:ext cx="8615100" cy="11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Font typeface="Bebas Neue"/>
              <a:buNone/>
              <a:defRPr sz="80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64600" y="3650599"/>
            <a:ext cx="2807400" cy="11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Lora Medium"/>
              <a:buChar char="●"/>
              <a:defRPr sz="1500">
                <a:solidFill>
                  <a:schemeClr val="lt2"/>
                </a:solidFill>
                <a:latin typeface="Lora Medium"/>
                <a:ea typeface="Lora Medium"/>
                <a:cs typeface="Lora Medium"/>
                <a:sym typeface="Lora Medium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Lora Medium"/>
              <a:buChar char="○"/>
              <a:defRPr sz="1500">
                <a:solidFill>
                  <a:schemeClr val="lt2"/>
                </a:solidFill>
                <a:latin typeface="Lora Medium"/>
                <a:ea typeface="Lora Medium"/>
                <a:cs typeface="Lora Medium"/>
                <a:sym typeface="Lora Medium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Lora Medium"/>
              <a:buChar char="■"/>
              <a:defRPr sz="1500">
                <a:solidFill>
                  <a:schemeClr val="lt2"/>
                </a:solidFill>
                <a:latin typeface="Lora Medium"/>
                <a:ea typeface="Lora Medium"/>
                <a:cs typeface="Lora Medium"/>
                <a:sym typeface="Lora Medium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Lora Medium"/>
              <a:buChar char="●"/>
              <a:defRPr sz="1500">
                <a:solidFill>
                  <a:schemeClr val="lt2"/>
                </a:solidFill>
                <a:latin typeface="Lora Medium"/>
                <a:ea typeface="Lora Medium"/>
                <a:cs typeface="Lora Medium"/>
                <a:sym typeface="Lora Medium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Lora Medium"/>
              <a:buChar char="○"/>
              <a:defRPr sz="1500">
                <a:solidFill>
                  <a:schemeClr val="lt2"/>
                </a:solidFill>
                <a:latin typeface="Lora Medium"/>
                <a:ea typeface="Lora Medium"/>
                <a:cs typeface="Lora Medium"/>
                <a:sym typeface="Lora Medium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Lora Medium"/>
              <a:buChar char="■"/>
              <a:defRPr sz="1500">
                <a:solidFill>
                  <a:schemeClr val="lt2"/>
                </a:solidFill>
                <a:latin typeface="Lora Medium"/>
                <a:ea typeface="Lora Medium"/>
                <a:cs typeface="Lora Medium"/>
                <a:sym typeface="Lora Medium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Lora Medium"/>
              <a:buChar char="●"/>
              <a:defRPr sz="1500">
                <a:solidFill>
                  <a:schemeClr val="lt2"/>
                </a:solidFill>
                <a:latin typeface="Lora Medium"/>
                <a:ea typeface="Lora Medium"/>
                <a:cs typeface="Lora Medium"/>
                <a:sym typeface="Lora Medium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Lora Medium"/>
              <a:buChar char="○"/>
              <a:defRPr sz="1500">
                <a:solidFill>
                  <a:schemeClr val="lt2"/>
                </a:solidFill>
                <a:latin typeface="Lora Medium"/>
                <a:ea typeface="Lora Medium"/>
                <a:cs typeface="Lora Medium"/>
                <a:sym typeface="Lora Medium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Lora Medium"/>
              <a:buChar char="■"/>
              <a:defRPr sz="1500">
                <a:solidFill>
                  <a:schemeClr val="lt2"/>
                </a:solidFill>
                <a:latin typeface="Lora Medium"/>
                <a:ea typeface="Lora Medium"/>
                <a:cs typeface="Lora Medium"/>
                <a:sym typeface="Lora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9" Type="http://schemas.openxmlformats.org/officeDocument/2006/relationships/image" Target="../media/image16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5.png"/><Relationship Id="rId8" Type="http://schemas.openxmlformats.org/officeDocument/2006/relationships/image" Target="../media/image12.png"/><Relationship Id="rId11" Type="http://schemas.openxmlformats.org/officeDocument/2006/relationships/image" Target="../media/image20.png"/><Relationship Id="rId10" Type="http://schemas.openxmlformats.org/officeDocument/2006/relationships/image" Target="../media/image18.png"/><Relationship Id="rId12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9" Type="http://schemas.openxmlformats.org/officeDocument/2006/relationships/image" Target="../media/image16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5.png"/><Relationship Id="rId8" Type="http://schemas.openxmlformats.org/officeDocument/2006/relationships/image" Target="../media/image12.png"/><Relationship Id="rId11" Type="http://schemas.openxmlformats.org/officeDocument/2006/relationships/image" Target="../media/image20.png"/><Relationship Id="rId10" Type="http://schemas.openxmlformats.org/officeDocument/2006/relationships/image" Target="../media/image18.png"/><Relationship Id="rId12" Type="http://schemas.openxmlformats.org/officeDocument/2006/relationships/image" Target="../media/image2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9" Type="http://schemas.openxmlformats.org/officeDocument/2006/relationships/image" Target="../media/image16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5.png"/><Relationship Id="rId8" Type="http://schemas.openxmlformats.org/officeDocument/2006/relationships/image" Target="../media/image12.png"/><Relationship Id="rId11" Type="http://schemas.openxmlformats.org/officeDocument/2006/relationships/image" Target="../media/image20.png"/><Relationship Id="rId10" Type="http://schemas.openxmlformats.org/officeDocument/2006/relationships/image" Target="../media/image18.png"/><Relationship Id="rId12" Type="http://schemas.openxmlformats.org/officeDocument/2006/relationships/image" Target="../media/image2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9" Type="http://schemas.openxmlformats.org/officeDocument/2006/relationships/image" Target="../media/image16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5.png"/><Relationship Id="rId8" Type="http://schemas.openxmlformats.org/officeDocument/2006/relationships/image" Target="../media/image12.png"/><Relationship Id="rId11" Type="http://schemas.openxmlformats.org/officeDocument/2006/relationships/image" Target="../media/image20.png"/><Relationship Id="rId10" Type="http://schemas.openxmlformats.org/officeDocument/2006/relationships/image" Target="../media/image18.png"/><Relationship Id="rId12" Type="http://schemas.openxmlformats.org/officeDocument/2006/relationships/image" Target="../media/image2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oogle Shape;219;p41"/>
          <p:cNvGrpSpPr/>
          <p:nvPr/>
        </p:nvGrpSpPr>
        <p:grpSpPr>
          <a:xfrm>
            <a:off x="-258475" y="-1740025"/>
            <a:ext cx="10154790" cy="8342458"/>
            <a:chOff x="6624301" y="1432583"/>
            <a:chExt cx="2001141" cy="1643996"/>
          </a:xfrm>
        </p:grpSpPr>
        <p:sp>
          <p:nvSpPr>
            <p:cNvPr id="220" name="Google Shape;220;p41"/>
            <p:cNvSpPr/>
            <p:nvPr/>
          </p:nvSpPr>
          <p:spPr>
            <a:xfrm>
              <a:off x="7374090" y="1432583"/>
              <a:ext cx="507143" cy="599335"/>
            </a:xfrm>
            <a:custGeom>
              <a:rect b="b" l="l" r="r" t="t"/>
              <a:pathLst>
                <a:path extrusionOk="0" h="15744" w="20439">
                  <a:moveTo>
                    <a:pt x="1075" y="15744"/>
                  </a:moveTo>
                  <a:cubicBezTo>
                    <a:pt x="1075" y="12516"/>
                    <a:pt x="993" y="9286"/>
                    <a:pt x="824" y="6062"/>
                  </a:cubicBezTo>
                  <a:cubicBezTo>
                    <a:pt x="721" y="4095"/>
                    <a:pt x="-886" y="-826"/>
                    <a:pt x="824" y="152"/>
                  </a:cubicBezTo>
                  <a:cubicBezTo>
                    <a:pt x="7964" y="4233"/>
                    <a:pt x="13084" y="11437"/>
                    <a:pt x="20439" y="15115"/>
                  </a:cubicBezTo>
                </a:path>
              </a:pathLst>
            </a:cu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21" name="Google Shape;221;p41"/>
            <p:cNvSpPr/>
            <p:nvPr/>
          </p:nvSpPr>
          <p:spPr>
            <a:xfrm rot="4198915">
              <a:off x="7962399" y="1725922"/>
              <a:ext cx="507666" cy="686089"/>
            </a:xfrm>
            <a:custGeom>
              <a:rect b="b" l="l" r="r" t="t"/>
              <a:pathLst>
                <a:path extrusionOk="0" h="15744" w="20439">
                  <a:moveTo>
                    <a:pt x="1075" y="15744"/>
                  </a:moveTo>
                  <a:cubicBezTo>
                    <a:pt x="1075" y="12516"/>
                    <a:pt x="993" y="9286"/>
                    <a:pt x="824" y="6062"/>
                  </a:cubicBezTo>
                  <a:cubicBezTo>
                    <a:pt x="721" y="4095"/>
                    <a:pt x="-886" y="-826"/>
                    <a:pt x="824" y="152"/>
                  </a:cubicBezTo>
                  <a:cubicBezTo>
                    <a:pt x="7964" y="4233"/>
                    <a:pt x="13084" y="11437"/>
                    <a:pt x="20439" y="15115"/>
                  </a:cubicBezTo>
                </a:path>
              </a:pathLst>
            </a:cu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22" name="Google Shape;222;p41"/>
            <p:cNvSpPr/>
            <p:nvPr/>
          </p:nvSpPr>
          <p:spPr>
            <a:xfrm rot="9999083">
              <a:off x="7667161" y="2449858"/>
              <a:ext cx="432682" cy="575238"/>
            </a:xfrm>
            <a:custGeom>
              <a:rect b="b" l="l" r="r" t="t"/>
              <a:pathLst>
                <a:path extrusionOk="0" h="15744" w="20439">
                  <a:moveTo>
                    <a:pt x="1075" y="15744"/>
                  </a:moveTo>
                  <a:cubicBezTo>
                    <a:pt x="1075" y="12516"/>
                    <a:pt x="993" y="9286"/>
                    <a:pt x="824" y="6062"/>
                  </a:cubicBezTo>
                  <a:cubicBezTo>
                    <a:pt x="721" y="4095"/>
                    <a:pt x="-886" y="-826"/>
                    <a:pt x="824" y="152"/>
                  </a:cubicBezTo>
                  <a:cubicBezTo>
                    <a:pt x="7964" y="4233"/>
                    <a:pt x="13084" y="11437"/>
                    <a:pt x="20439" y="15115"/>
                  </a:cubicBezTo>
                </a:path>
              </a:pathLst>
            </a:cu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23" name="Google Shape;223;p41"/>
            <p:cNvSpPr/>
            <p:nvPr/>
          </p:nvSpPr>
          <p:spPr>
            <a:xfrm>
              <a:off x="6958300" y="2477250"/>
              <a:ext cx="699662" cy="599329"/>
            </a:xfrm>
            <a:custGeom>
              <a:rect b="b" l="l" r="r" t="t"/>
              <a:pathLst>
                <a:path extrusionOk="0" h="21654" w="21003">
                  <a:moveTo>
                    <a:pt x="21003" y="0"/>
                  </a:moveTo>
                  <a:cubicBezTo>
                    <a:pt x="17102" y="6095"/>
                    <a:pt x="12431" y="11881"/>
                    <a:pt x="6779" y="16401"/>
                  </a:cubicBezTo>
                  <a:cubicBezTo>
                    <a:pt x="5009" y="17816"/>
                    <a:pt x="657" y="21735"/>
                    <a:pt x="538" y="21626"/>
                  </a:cubicBezTo>
                  <a:cubicBezTo>
                    <a:pt x="-1149" y="20078"/>
                    <a:pt x="1718" y="17199"/>
                    <a:pt x="2425" y="15022"/>
                  </a:cubicBezTo>
                  <a:cubicBezTo>
                    <a:pt x="3756" y="10925"/>
                    <a:pt x="4913" y="6695"/>
                    <a:pt x="5183" y="2395"/>
                  </a:cubicBezTo>
                </a:path>
              </a:pathLst>
            </a:cu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24" name="Google Shape;224;p41"/>
            <p:cNvSpPr/>
            <p:nvPr/>
          </p:nvSpPr>
          <p:spPr>
            <a:xfrm>
              <a:off x="6624301" y="2032450"/>
              <a:ext cx="779666" cy="514491"/>
            </a:xfrm>
            <a:custGeom>
              <a:rect b="b" l="l" r="r" t="t"/>
              <a:pathLst>
                <a:path extrusionOk="0" h="19516" w="31591">
                  <a:moveTo>
                    <a:pt x="31591" y="0"/>
                  </a:moveTo>
                  <a:cubicBezTo>
                    <a:pt x="25022" y="243"/>
                    <a:pt x="18461" y="757"/>
                    <a:pt x="11888" y="808"/>
                  </a:cubicBezTo>
                  <a:cubicBezTo>
                    <a:pt x="8905" y="831"/>
                    <a:pt x="5921" y="808"/>
                    <a:pt x="2938" y="808"/>
                  </a:cubicBezTo>
                  <a:cubicBezTo>
                    <a:pt x="1474" y="808"/>
                    <a:pt x="-18" y="630"/>
                    <a:pt x="17" y="746"/>
                  </a:cubicBezTo>
                  <a:cubicBezTo>
                    <a:pt x="675" y="2947"/>
                    <a:pt x="3612" y="3608"/>
                    <a:pt x="5362" y="5097"/>
                  </a:cubicBezTo>
                  <a:cubicBezTo>
                    <a:pt x="10675" y="9617"/>
                    <a:pt x="17185" y="13394"/>
                    <a:pt x="20528" y="19516"/>
                  </a:cubicBezTo>
                </a:path>
              </a:pathLst>
            </a:cu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pic>
        <p:nvPicPr>
          <p:cNvPr id="225" name="Google Shape;225;p41" title="Wheres The Impac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41"/>
          <p:cNvSpPr txBox="1"/>
          <p:nvPr>
            <p:ph idx="4294967295" type="subTitle"/>
          </p:nvPr>
        </p:nvSpPr>
        <p:spPr>
          <a:xfrm>
            <a:off x="3740700" y="1386000"/>
            <a:ext cx="5403300" cy="20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>
                <a:latin typeface="Bebas Neue"/>
                <a:ea typeface="Bebas Neue"/>
                <a:cs typeface="Bebas Neue"/>
                <a:sym typeface="Bebas Neue"/>
              </a:rPr>
              <a:t>A Controls Engineer’s perspective on ICS/OT cybersecurity impact</a:t>
            </a:r>
            <a:endParaRPr b="1" sz="4200"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4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42" title="Online Figh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42"/>
          <p:cNvSpPr txBox="1"/>
          <p:nvPr>
            <p:ph type="title"/>
          </p:nvPr>
        </p:nvSpPr>
        <p:spPr>
          <a:xfrm>
            <a:off x="0" y="0"/>
            <a:ext cx="4294200" cy="1007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233" name="Google Shape;233;p42"/>
          <p:cNvSpPr/>
          <p:nvPr/>
        </p:nvSpPr>
        <p:spPr>
          <a:xfrm>
            <a:off x="4572000" y="3935400"/>
            <a:ext cx="2301900" cy="663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pic>
        <p:nvPicPr>
          <p:cNvPr id="234" name="Google Shape;234;p42" title="LI-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3025" y="4013525"/>
            <a:ext cx="2220902" cy="5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2"/>
          <p:cNvSpPr/>
          <p:nvPr/>
        </p:nvSpPr>
        <p:spPr>
          <a:xfrm>
            <a:off x="5962825" y="208350"/>
            <a:ext cx="2463600" cy="10071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lt1"/>
          </a:solidFill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rPr>
              <a:t>ICS/OT Cybersecurity is necessary!</a:t>
            </a:r>
            <a:endParaRPr sz="1800">
              <a:solidFill>
                <a:schemeClr val="lt2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36" name="Google Shape;236;p42"/>
          <p:cNvSpPr/>
          <p:nvPr/>
        </p:nvSpPr>
        <p:spPr>
          <a:xfrm>
            <a:off x="407025" y="1007100"/>
            <a:ext cx="2463600" cy="10581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lt1"/>
          </a:solidFill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rPr>
              <a:t>If it is necessary, where are the impactful events?</a:t>
            </a:r>
            <a:r>
              <a:rPr lang="en" sz="18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rPr>
              <a:t>!?</a:t>
            </a:r>
            <a:endParaRPr sz="1800">
              <a:solidFill>
                <a:schemeClr val="lt2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3"/>
          <p:cNvSpPr txBox="1"/>
          <p:nvPr>
            <p:ph type="title"/>
          </p:nvPr>
        </p:nvSpPr>
        <p:spPr>
          <a:xfrm>
            <a:off x="195000" y="212950"/>
            <a:ext cx="8615100" cy="23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A controls engineer has more</a:t>
            </a:r>
            <a:endParaRPr sz="6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dk1"/>
                </a:solidFill>
              </a:rPr>
              <a:t>Potential </a:t>
            </a:r>
            <a:r>
              <a:rPr lang="en" sz="6000"/>
              <a:t>to impact a system than a threat actor</a:t>
            </a:r>
            <a:endParaRPr sz="6000"/>
          </a:p>
        </p:txBody>
      </p:sp>
      <p:sp>
        <p:nvSpPr>
          <p:cNvPr id="242" name="Google Shape;242;p43"/>
          <p:cNvSpPr/>
          <p:nvPr/>
        </p:nvSpPr>
        <p:spPr>
          <a:xfrm rot="129874">
            <a:off x="719547" y="1650912"/>
            <a:ext cx="2602563" cy="242254"/>
          </a:xfrm>
          <a:custGeom>
            <a:rect b="b" l="l" r="r" t="t"/>
            <a:pathLst>
              <a:path extrusionOk="0" h="9690" w="152400">
                <a:moveTo>
                  <a:pt x="152400" y="0"/>
                </a:moveTo>
                <a:cubicBezTo>
                  <a:pt x="101572" y="2751"/>
                  <a:pt x="50650" y="4630"/>
                  <a:pt x="0" y="9690"/>
                </a:cubicBezTo>
              </a:path>
            </a:pathLst>
          </a:cu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43" name="Google Shape;243;p43"/>
          <p:cNvSpPr txBox="1"/>
          <p:nvPr>
            <p:ph type="title"/>
          </p:nvPr>
        </p:nvSpPr>
        <p:spPr>
          <a:xfrm>
            <a:off x="264450" y="3159900"/>
            <a:ext cx="8615100" cy="12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600"/>
              <a:t>And that is a good thing!!!</a:t>
            </a:r>
            <a:endParaRPr sz="7600"/>
          </a:p>
        </p:txBody>
      </p:sp>
      <p:sp>
        <p:nvSpPr>
          <p:cNvPr id="244" name="Google Shape;244;p43"/>
          <p:cNvSpPr/>
          <p:nvPr/>
        </p:nvSpPr>
        <p:spPr>
          <a:xfrm rot="173391">
            <a:off x="442039" y="4009483"/>
            <a:ext cx="8259916" cy="242243"/>
          </a:xfrm>
          <a:custGeom>
            <a:rect b="b" l="l" r="r" t="t"/>
            <a:pathLst>
              <a:path extrusionOk="0" h="9690" w="152400">
                <a:moveTo>
                  <a:pt x="152400" y="0"/>
                </a:moveTo>
                <a:cubicBezTo>
                  <a:pt x="101572" y="2751"/>
                  <a:pt x="50650" y="4630"/>
                  <a:pt x="0" y="9690"/>
                </a:cubicBezTo>
              </a:path>
            </a:pathLst>
          </a:cu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4"/>
          <p:cNvSpPr/>
          <p:nvPr/>
        </p:nvSpPr>
        <p:spPr>
          <a:xfrm>
            <a:off x="-308574" y="-1192325"/>
            <a:ext cx="9243559" cy="6952934"/>
          </a:xfrm>
          <a:custGeom>
            <a:rect b="b" l="l" r="r" t="t"/>
            <a:pathLst>
              <a:path extrusionOk="0" h="279768" w="460853">
                <a:moveTo>
                  <a:pt x="42628" y="111316"/>
                </a:moveTo>
                <a:cubicBezTo>
                  <a:pt x="86722" y="61928"/>
                  <a:pt x="149358" y="26261"/>
                  <a:pt x="213589" y="10204"/>
                </a:cubicBezTo>
                <a:cubicBezTo>
                  <a:pt x="255072" y="-166"/>
                  <a:pt x="298902" y="-1450"/>
                  <a:pt x="341566" y="1412"/>
                </a:cubicBezTo>
                <a:cubicBezTo>
                  <a:pt x="393026" y="4864"/>
                  <a:pt x="459235" y="48527"/>
                  <a:pt x="460751" y="100081"/>
                </a:cubicBezTo>
                <a:cubicBezTo>
                  <a:pt x="462387" y="155688"/>
                  <a:pt x="400260" y="199622"/>
                  <a:pt x="351336" y="226104"/>
                </a:cubicBezTo>
                <a:cubicBezTo>
                  <a:pt x="307821" y="249658"/>
                  <a:pt x="259456" y="265290"/>
                  <a:pt x="210659" y="273485"/>
                </a:cubicBezTo>
                <a:cubicBezTo>
                  <a:pt x="168738" y="280525"/>
                  <a:pt x="123454" y="284123"/>
                  <a:pt x="83170" y="270554"/>
                </a:cubicBezTo>
                <a:cubicBezTo>
                  <a:pt x="44060" y="257381"/>
                  <a:pt x="-1982" y="219939"/>
                  <a:pt x="132" y="178724"/>
                </a:cubicBezTo>
                <a:cubicBezTo>
                  <a:pt x="1661" y="148917"/>
                  <a:pt x="14778" y="118296"/>
                  <a:pt x="34813" y="96174"/>
                </a:cubicBezTo>
                <a:cubicBezTo>
                  <a:pt x="52913" y="76189"/>
                  <a:pt x="76012" y="60936"/>
                  <a:pt x="99289" y="47327"/>
                </a:cubicBezTo>
              </a:path>
            </a:pathLst>
          </a:cu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50" name="Google Shape;250;p44"/>
          <p:cNvSpPr txBox="1"/>
          <p:nvPr>
            <p:ph type="title"/>
          </p:nvPr>
        </p:nvSpPr>
        <p:spPr>
          <a:xfrm>
            <a:off x="1217275" y="1164300"/>
            <a:ext cx="5239200" cy="5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2"/>
                </a:solidFill>
              </a:rPr>
              <a:t>Neil Brandon</a:t>
            </a:r>
            <a:endParaRPr sz="5000">
              <a:solidFill>
                <a:schemeClr val="lt2"/>
              </a:solidFill>
            </a:endParaRPr>
          </a:p>
        </p:txBody>
      </p:sp>
      <p:sp>
        <p:nvSpPr>
          <p:cNvPr id="251" name="Google Shape;251;p44"/>
          <p:cNvSpPr txBox="1"/>
          <p:nvPr>
            <p:ph idx="1" type="subTitle"/>
          </p:nvPr>
        </p:nvSpPr>
        <p:spPr>
          <a:xfrm>
            <a:off x="1217275" y="862425"/>
            <a:ext cx="2825400" cy="30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600">
                <a:solidFill>
                  <a:schemeClr val="lt2"/>
                </a:solidFill>
              </a:rPr>
              <a:t>Who am i?</a:t>
            </a:r>
            <a:endParaRPr sz="2600">
              <a:solidFill>
                <a:schemeClr val="lt2"/>
              </a:solidFill>
            </a:endParaRPr>
          </a:p>
        </p:txBody>
      </p:sp>
      <p:sp>
        <p:nvSpPr>
          <p:cNvPr id="252" name="Google Shape;252;p44"/>
          <p:cNvSpPr txBox="1"/>
          <p:nvPr>
            <p:ph idx="3" type="body"/>
          </p:nvPr>
        </p:nvSpPr>
        <p:spPr>
          <a:xfrm>
            <a:off x="1217275" y="1806300"/>
            <a:ext cx="5694900" cy="325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Char char="●"/>
            </a:pP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Principal Engineer @ Faith technologies</a:t>
            </a:r>
            <a:endParaRPr sz="2400">
              <a:latin typeface="Bebas Neue"/>
              <a:ea typeface="Bebas Neue"/>
              <a:cs typeface="Bebas Neue"/>
              <a:sym typeface="Bebas Neu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Char char="○"/>
            </a:pP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Data center team</a:t>
            </a:r>
            <a:endParaRPr sz="2400">
              <a:latin typeface="Bebas Neue"/>
              <a:ea typeface="Bebas Neue"/>
              <a:cs typeface="Bebas Neue"/>
              <a:sym typeface="Bebas Ne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Char char="●"/>
            </a:pP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20+ years industrial automation</a:t>
            </a:r>
            <a:endParaRPr sz="2400">
              <a:latin typeface="Bebas Neue"/>
              <a:ea typeface="Bebas Neue"/>
              <a:cs typeface="Bebas Neue"/>
              <a:sym typeface="Bebas Neu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Char char="○"/>
            </a:pP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Machine vision</a:t>
            </a:r>
            <a:endParaRPr sz="2400">
              <a:latin typeface="Bebas Neue"/>
              <a:ea typeface="Bebas Neue"/>
              <a:cs typeface="Bebas Neue"/>
              <a:sym typeface="Bebas Neu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Char char="○"/>
            </a:pP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Robotics</a:t>
            </a:r>
            <a:endParaRPr sz="2400">
              <a:latin typeface="Bebas Neue"/>
              <a:ea typeface="Bebas Neue"/>
              <a:cs typeface="Bebas Neue"/>
              <a:sym typeface="Bebas Neu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Char char="○"/>
            </a:pP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Industrial machine learning</a:t>
            </a:r>
            <a:endParaRPr sz="2400"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3" name="Google Shape;253;p44"/>
          <p:cNvSpPr txBox="1"/>
          <p:nvPr>
            <p:ph idx="1" type="subTitle"/>
          </p:nvPr>
        </p:nvSpPr>
        <p:spPr>
          <a:xfrm>
            <a:off x="4266975" y="1450250"/>
            <a:ext cx="2825400" cy="30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600">
                <a:solidFill>
                  <a:schemeClr val="lt2"/>
                </a:solidFill>
              </a:rPr>
              <a:t>GICSP, GRID, GCIP, Sec+</a:t>
            </a:r>
            <a:endParaRPr sz="26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5"/>
          <p:cNvSpPr txBox="1"/>
          <p:nvPr>
            <p:ph type="title"/>
          </p:nvPr>
        </p:nvSpPr>
        <p:spPr>
          <a:xfrm>
            <a:off x="264450" y="212925"/>
            <a:ext cx="86151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We need to define</a:t>
            </a:r>
            <a:r>
              <a:rPr lang="en" sz="6000"/>
              <a:t> impact!</a:t>
            </a:r>
            <a:endParaRPr sz="6000"/>
          </a:p>
        </p:txBody>
      </p:sp>
      <p:sp>
        <p:nvSpPr>
          <p:cNvPr id="259" name="Google Shape;259;p45"/>
          <p:cNvSpPr/>
          <p:nvPr/>
        </p:nvSpPr>
        <p:spPr>
          <a:xfrm rot="129712">
            <a:off x="3496897" y="999054"/>
            <a:ext cx="4140988" cy="242254"/>
          </a:xfrm>
          <a:custGeom>
            <a:rect b="b" l="l" r="r" t="t"/>
            <a:pathLst>
              <a:path extrusionOk="0" h="9690" w="152400">
                <a:moveTo>
                  <a:pt x="152400" y="0"/>
                </a:moveTo>
                <a:cubicBezTo>
                  <a:pt x="101572" y="2751"/>
                  <a:pt x="50650" y="4630"/>
                  <a:pt x="0" y="9690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260" name="Google Shape;26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450" y="1775550"/>
            <a:ext cx="4147200" cy="3017341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45"/>
          <p:cNvSpPr/>
          <p:nvPr/>
        </p:nvSpPr>
        <p:spPr>
          <a:xfrm>
            <a:off x="5845225" y="2652775"/>
            <a:ext cx="2662200" cy="949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production</a:t>
            </a:r>
            <a:endParaRPr sz="45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2" name="Google Shape;262;p45"/>
          <p:cNvSpPr/>
          <p:nvPr/>
        </p:nvSpPr>
        <p:spPr>
          <a:xfrm>
            <a:off x="5845225" y="3683600"/>
            <a:ext cx="2662200" cy="949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Safety</a:t>
            </a:r>
            <a:endParaRPr sz="45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3" name="Google Shape;263;p45"/>
          <p:cNvSpPr txBox="1"/>
          <p:nvPr/>
        </p:nvSpPr>
        <p:spPr>
          <a:xfrm>
            <a:off x="5364925" y="1217550"/>
            <a:ext cx="3622800" cy="13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rPr>
              <a:t>Primary categories of concern for ICS/OT</a:t>
            </a:r>
            <a:endParaRPr sz="3400">
              <a:solidFill>
                <a:schemeClr val="lt2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6"/>
          <p:cNvSpPr txBox="1"/>
          <p:nvPr>
            <p:ph type="title"/>
          </p:nvPr>
        </p:nvSpPr>
        <p:spPr>
          <a:xfrm>
            <a:off x="264450" y="212925"/>
            <a:ext cx="35877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269" name="Google Shape;269;p46"/>
          <p:cNvSpPr txBox="1"/>
          <p:nvPr/>
        </p:nvSpPr>
        <p:spPr>
          <a:xfrm>
            <a:off x="405775" y="1206375"/>
            <a:ext cx="8437800" cy="3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Bebas Neue"/>
              <a:buChar char="●"/>
            </a:pPr>
            <a:r>
              <a:rPr lang="en" sz="40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rPr>
              <a:t>Can Impact Happen?</a:t>
            </a:r>
            <a:endParaRPr sz="4000">
              <a:solidFill>
                <a:schemeClr val="lt2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Bebas Neue"/>
              <a:buChar char="●"/>
            </a:pPr>
            <a:r>
              <a:rPr lang="en" sz="40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rPr>
              <a:t>What would cause impact?</a:t>
            </a:r>
            <a:endParaRPr sz="4000">
              <a:solidFill>
                <a:schemeClr val="lt2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Bebas Neue"/>
              <a:buChar char="●"/>
            </a:pPr>
            <a:r>
              <a:rPr lang="en" sz="40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rPr>
              <a:t>What prevents impact from </a:t>
            </a:r>
            <a:r>
              <a:rPr lang="en" sz="40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rPr>
              <a:t>occurring</a:t>
            </a:r>
            <a:r>
              <a:rPr lang="en" sz="40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rPr>
              <a:t>?</a:t>
            </a:r>
            <a:endParaRPr sz="4000">
              <a:solidFill>
                <a:schemeClr val="lt2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Bebas Neue"/>
              <a:buChar char="●"/>
            </a:pPr>
            <a:r>
              <a:rPr lang="en" sz="40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rPr>
              <a:t>What areas should we concentrate on to minimize exposure?</a:t>
            </a:r>
            <a:endParaRPr sz="4000">
              <a:solidFill>
                <a:schemeClr val="lt2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2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7"/>
          <p:cNvSpPr txBox="1"/>
          <p:nvPr>
            <p:ph type="title"/>
          </p:nvPr>
        </p:nvSpPr>
        <p:spPr>
          <a:xfrm>
            <a:off x="264450" y="212925"/>
            <a:ext cx="8615100" cy="110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Why haven’t we seen impact?</a:t>
            </a:r>
            <a:endParaRPr sz="6000"/>
          </a:p>
        </p:txBody>
      </p:sp>
      <p:sp>
        <p:nvSpPr>
          <p:cNvPr id="275" name="Google Shape;275;p47"/>
          <p:cNvSpPr/>
          <p:nvPr/>
        </p:nvSpPr>
        <p:spPr>
          <a:xfrm rot="129712">
            <a:off x="3496897" y="999054"/>
            <a:ext cx="4140988" cy="242254"/>
          </a:xfrm>
          <a:custGeom>
            <a:rect b="b" l="l" r="r" t="t"/>
            <a:pathLst>
              <a:path extrusionOk="0" h="9690" w="152400">
                <a:moveTo>
                  <a:pt x="152400" y="0"/>
                </a:moveTo>
                <a:cubicBezTo>
                  <a:pt x="101572" y="2751"/>
                  <a:pt x="50650" y="4630"/>
                  <a:pt x="0" y="9690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76" name="Google Shape;276;p47"/>
          <p:cNvSpPr txBox="1"/>
          <p:nvPr/>
        </p:nvSpPr>
        <p:spPr>
          <a:xfrm>
            <a:off x="264450" y="1380725"/>
            <a:ext cx="8615100" cy="12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The fundamental question</a:t>
            </a:r>
            <a:endParaRPr sz="70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77" name="Google Shape;277;p47"/>
          <p:cNvSpPr txBox="1"/>
          <p:nvPr>
            <p:ph type="title"/>
          </p:nvPr>
        </p:nvSpPr>
        <p:spPr>
          <a:xfrm>
            <a:off x="264450" y="3159900"/>
            <a:ext cx="8615100" cy="12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impact happen?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400023"/>
            <a:ext cx="9144000" cy="5543524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48"/>
          <p:cNvSpPr txBox="1"/>
          <p:nvPr>
            <p:ph type="title"/>
          </p:nvPr>
        </p:nvSpPr>
        <p:spPr>
          <a:xfrm>
            <a:off x="137783" y="0"/>
            <a:ext cx="8615100" cy="78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>
                <a:solidFill>
                  <a:schemeClr val="dk2"/>
                </a:solidFill>
                <a:highlight>
                  <a:schemeClr val="lt2"/>
                </a:highlight>
              </a:rPr>
              <a:t>Natanz, iran</a:t>
            </a:r>
            <a:r>
              <a:rPr lang="en" sz="5800">
                <a:solidFill>
                  <a:schemeClr val="dk2"/>
                </a:solidFill>
                <a:highlight>
                  <a:schemeClr val="lt2"/>
                </a:highlight>
              </a:rPr>
              <a:t> - stuxnet</a:t>
            </a:r>
            <a:endParaRPr sz="5800">
              <a:solidFill>
                <a:schemeClr val="dk2"/>
              </a:solidFill>
              <a:highlight>
                <a:schemeClr val="lt2"/>
              </a:highlight>
            </a:endParaRPr>
          </a:p>
        </p:txBody>
      </p:sp>
      <p:sp>
        <p:nvSpPr>
          <p:cNvPr id="284" name="Google Shape;284;p48"/>
          <p:cNvSpPr/>
          <p:nvPr/>
        </p:nvSpPr>
        <p:spPr>
          <a:xfrm rot="129474">
            <a:off x="3685699" y="422877"/>
            <a:ext cx="2195736" cy="242254"/>
          </a:xfrm>
          <a:custGeom>
            <a:rect b="b" l="l" r="r" t="t"/>
            <a:pathLst>
              <a:path extrusionOk="0" h="9690" w="152400">
                <a:moveTo>
                  <a:pt x="152400" y="0"/>
                </a:moveTo>
                <a:cubicBezTo>
                  <a:pt x="101572" y="2751"/>
                  <a:pt x="50650" y="4630"/>
                  <a:pt x="0" y="9690"/>
                </a:cubicBezTo>
              </a:path>
            </a:pathLst>
          </a:custGeom>
          <a:noFill/>
          <a:ln cap="flat" cmpd="sng" w="38100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285" name="Google Shape;285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6038" y="381625"/>
            <a:ext cx="6193512" cy="476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9"/>
          <p:cNvSpPr txBox="1"/>
          <p:nvPr>
            <p:ph type="title"/>
          </p:nvPr>
        </p:nvSpPr>
        <p:spPr>
          <a:xfrm>
            <a:off x="264450" y="212925"/>
            <a:ext cx="8615100" cy="110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/>
              <a:t>Idaho national labs - aurora test</a:t>
            </a:r>
            <a:endParaRPr sz="5800"/>
          </a:p>
        </p:txBody>
      </p:sp>
      <p:sp>
        <p:nvSpPr>
          <p:cNvPr id="291" name="Google Shape;291;p49"/>
          <p:cNvSpPr/>
          <p:nvPr/>
        </p:nvSpPr>
        <p:spPr>
          <a:xfrm rot="129530">
            <a:off x="5476474" y="1018524"/>
            <a:ext cx="3105068" cy="242254"/>
          </a:xfrm>
          <a:custGeom>
            <a:rect b="b" l="l" r="r" t="t"/>
            <a:pathLst>
              <a:path extrusionOk="0" h="9690" w="152400">
                <a:moveTo>
                  <a:pt x="152400" y="0"/>
                </a:moveTo>
                <a:cubicBezTo>
                  <a:pt x="101572" y="2751"/>
                  <a:pt x="50650" y="4630"/>
                  <a:pt x="0" y="9690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292" name="Google Shape;292;p49" title="3170b478-316f-48fc-a265-91a6016c9c7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8025" y="1402275"/>
            <a:ext cx="3519376" cy="3519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9" title="0b639bd6-b5e8-4f07-8d05-3227c302263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500" y="1737075"/>
            <a:ext cx="2849774" cy="28497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4" name="Google Shape;294;p49"/>
          <p:cNvCxnSpPr/>
          <p:nvPr/>
        </p:nvCxnSpPr>
        <p:spPr>
          <a:xfrm flipH="1" rot="10800000">
            <a:off x="2835800" y="2812500"/>
            <a:ext cx="1932900" cy="984000"/>
          </a:xfrm>
          <a:prstGeom prst="curvedConnector3">
            <a:avLst>
              <a:gd fmla="val 50000" name="adj1"/>
            </a:avLst>
          </a:prstGeom>
          <a:noFill/>
          <a:ln cap="flat" cmpd="sng" w="76200">
            <a:solidFill>
              <a:schemeClr val="accent6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0"/>
          <p:cNvSpPr txBox="1"/>
          <p:nvPr>
            <p:ph type="title"/>
          </p:nvPr>
        </p:nvSpPr>
        <p:spPr>
          <a:xfrm>
            <a:off x="0" y="0"/>
            <a:ext cx="3065700" cy="348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/>
              <a:t>Potato</a:t>
            </a:r>
            <a:endParaRPr sz="5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/>
              <a:t>Chip</a:t>
            </a:r>
            <a:endParaRPr sz="5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/>
              <a:t>Factory </a:t>
            </a:r>
            <a:r>
              <a:rPr lang="en" sz="4000"/>
              <a:t>wisconsin </a:t>
            </a:r>
            <a:endParaRPr sz="4000"/>
          </a:p>
        </p:txBody>
      </p:sp>
      <p:sp>
        <p:nvSpPr>
          <p:cNvPr id="300" name="Google Shape;300;p50"/>
          <p:cNvSpPr/>
          <p:nvPr/>
        </p:nvSpPr>
        <p:spPr>
          <a:xfrm rot="129347">
            <a:off x="154302" y="2993534"/>
            <a:ext cx="1630691" cy="242254"/>
          </a:xfrm>
          <a:custGeom>
            <a:rect b="b" l="l" r="r" t="t"/>
            <a:pathLst>
              <a:path extrusionOk="0" h="9690" w="152400">
                <a:moveTo>
                  <a:pt x="152400" y="0"/>
                </a:moveTo>
                <a:cubicBezTo>
                  <a:pt x="101572" y="2751"/>
                  <a:pt x="50650" y="4630"/>
                  <a:pt x="0" y="9690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301" name="Google Shape;30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0075" y="-11"/>
            <a:ext cx="6903925" cy="5143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1"/>
          <p:cNvSpPr txBox="1"/>
          <p:nvPr>
            <p:ph type="title"/>
          </p:nvPr>
        </p:nvSpPr>
        <p:spPr>
          <a:xfrm>
            <a:off x="264450" y="1377375"/>
            <a:ext cx="8615100" cy="253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900"/>
              <a:t>Are there threat actors attempting to cause impact?</a:t>
            </a:r>
            <a:endParaRPr sz="6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12925"/>
            <a:ext cx="3827551" cy="3186649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52"/>
          <p:cNvSpPr/>
          <p:nvPr/>
        </p:nvSpPr>
        <p:spPr>
          <a:xfrm rot="129712">
            <a:off x="267547" y="1045354"/>
            <a:ext cx="4140988" cy="242254"/>
          </a:xfrm>
          <a:custGeom>
            <a:rect b="b" l="l" r="r" t="t"/>
            <a:pathLst>
              <a:path extrusionOk="0" h="9690" w="152400">
                <a:moveTo>
                  <a:pt x="152400" y="0"/>
                </a:moveTo>
                <a:cubicBezTo>
                  <a:pt x="101572" y="2751"/>
                  <a:pt x="50650" y="4630"/>
                  <a:pt x="0" y="9690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13" name="Google Shape;313;p52"/>
          <p:cNvSpPr txBox="1"/>
          <p:nvPr>
            <p:ph type="title"/>
          </p:nvPr>
        </p:nvSpPr>
        <p:spPr>
          <a:xfrm>
            <a:off x="264450" y="212925"/>
            <a:ext cx="4353900" cy="24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Recent Canadian example</a:t>
            </a:r>
            <a:endParaRPr sz="6000"/>
          </a:p>
        </p:txBody>
      </p:sp>
      <p:sp>
        <p:nvSpPr>
          <p:cNvPr id="314" name="Google Shape;314;p52"/>
          <p:cNvSpPr txBox="1"/>
          <p:nvPr/>
        </p:nvSpPr>
        <p:spPr>
          <a:xfrm>
            <a:off x="198500" y="2896475"/>
            <a:ext cx="8615100" cy="20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rPr>
              <a:t>October 30, 2025</a:t>
            </a:r>
            <a:endParaRPr sz="4000">
              <a:solidFill>
                <a:schemeClr val="lt2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Bebas Neue"/>
              <a:buChar char="●"/>
            </a:pPr>
            <a:r>
              <a:rPr lang="en" sz="28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rPr>
              <a:t>Adjusted water pressure at a facility that serviced a community.</a:t>
            </a:r>
            <a:endParaRPr sz="2800">
              <a:solidFill>
                <a:schemeClr val="lt2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Bebas Neue"/>
              <a:buChar char="●"/>
            </a:pPr>
            <a:r>
              <a:rPr lang="en" sz="28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rPr>
              <a:t>Triggered a false alarm at an oil &amp; gas facility</a:t>
            </a:r>
            <a:endParaRPr sz="2800">
              <a:solidFill>
                <a:schemeClr val="lt2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Bebas Neue"/>
              <a:buChar char="●"/>
            </a:pPr>
            <a:r>
              <a:rPr lang="en" sz="28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rPr>
              <a:t>Adjusted temperature and humidity of a grain silo</a:t>
            </a:r>
            <a:endParaRPr sz="2800">
              <a:solidFill>
                <a:schemeClr val="lt2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2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3"/>
          <p:cNvSpPr/>
          <p:nvPr/>
        </p:nvSpPr>
        <p:spPr>
          <a:xfrm rot="129712">
            <a:off x="3496897" y="999054"/>
            <a:ext cx="4140988" cy="242254"/>
          </a:xfrm>
          <a:custGeom>
            <a:rect b="b" l="l" r="r" t="t"/>
            <a:pathLst>
              <a:path extrusionOk="0" h="9690" w="152400">
                <a:moveTo>
                  <a:pt x="152400" y="0"/>
                </a:moveTo>
                <a:cubicBezTo>
                  <a:pt x="101572" y="2751"/>
                  <a:pt x="50650" y="4630"/>
                  <a:pt x="0" y="9690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20" name="Google Shape;320;p53"/>
          <p:cNvSpPr txBox="1"/>
          <p:nvPr>
            <p:ph type="title"/>
          </p:nvPr>
        </p:nvSpPr>
        <p:spPr>
          <a:xfrm>
            <a:off x="264450" y="1377375"/>
            <a:ext cx="8615100" cy="253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900"/>
              <a:t>What prevents impact from </a:t>
            </a:r>
            <a:r>
              <a:rPr lang="en" sz="6900"/>
              <a:t>occurring</a:t>
            </a:r>
            <a:r>
              <a:rPr lang="en" sz="6900"/>
              <a:t>?</a:t>
            </a:r>
            <a:endParaRPr sz="6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4"/>
          <p:cNvSpPr txBox="1"/>
          <p:nvPr>
            <p:ph type="title"/>
          </p:nvPr>
        </p:nvSpPr>
        <p:spPr>
          <a:xfrm>
            <a:off x="264450" y="1377375"/>
            <a:ext cx="8615100" cy="253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Lack of context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(don’t know where the problems are)</a:t>
            </a:r>
            <a:endParaRPr sz="5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55"/>
          <p:cNvPicPr preferRelativeResize="0"/>
          <p:nvPr/>
        </p:nvPicPr>
        <p:blipFill rotWithShape="1">
          <a:blip r:embed="rId3">
            <a:alphaModFix/>
          </a:blip>
          <a:srcRect b="0" l="0" r="0" t="3577"/>
          <a:stretch/>
        </p:blipFill>
        <p:spPr>
          <a:xfrm>
            <a:off x="6489050" y="2797550"/>
            <a:ext cx="2516875" cy="225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55"/>
          <p:cNvSpPr txBox="1"/>
          <p:nvPr/>
        </p:nvSpPr>
        <p:spPr>
          <a:xfrm>
            <a:off x="249575" y="211025"/>
            <a:ext cx="564300" cy="7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rPr>
              <a:t>1</a:t>
            </a:r>
            <a:endParaRPr sz="3600">
              <a:solidFill>
                <a:schemeClr val="lt2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32" name="Google Shape;332;p55"/>
          <p:cNvSpPr txBox="1"/>
          <p:nvPr/>
        </p:nvSpPr>
        <p:spPr>
          <a:xfrm>
            <a:off x="1020000" y="268775"/>
            <a:ext cx="3092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rPr>
              <a:t>Determine what’s talking</a:t>
            </a:r>
            <a:endParaRPr sz="2600">
              <a:solidFill>
                <a:schemeClr val="lt2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33" name="Google Shape;333;p55"/>
          <p:cNvSpPr/>
          <p:nvPr/>
        </p:nvSpPr>
        <p:spPr>
          <a:xfrm>
            <a:off x="203375" y="243675"/>
            <a:ext cx="656700" cy="647700"/>
          </a:xfrm>
          <a:prstGeom prst="ellipse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334" name="Google Shape;334;p55"/>
          <p:cNvSpPr txBox="1"/>
          <p:nvPr/>
        </p:nvSpPr>
        <p:spPr>
          <a:xfrm>
            <a:off x="249575" y="984050"/>
            <a:ext cx="564300" cy="7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rPr>
              <a:t>2</a:t>
            </a:r>
            <a:endParaRPr sz="3600">
              <a:solidFill>
                <a:schemeClr val="lt2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35" name="Google Shape;335;p55"/>
          <p:cNvSpPr txBox="1"/>
          <p:nvPr/>
        </p:nvSpPr>
        <p:spPr>
          <a:xfrm>
            <a:off x="1020000" y="1038675"/>
            <a:ext cx="3092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rPr>
              <a:t>What type of device is it?</a:t>
            </a:r>
            <a:endParaRPr sz="2600">
              <a:solidFill>
                <a:schemeClr val="lt2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36" name="Google Shape;336;p55"/>
          <p:cNvSpPr txBox="1"/>
          <p:nvPr/>
        </p:nvSpPr>
        <p:spPr>
          <a:xfrm>
            <a:off x="1020000" y="1808575"/>
            <a:ext cx="3754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rPr>
              <a:t>Is it talking to something else?</a:t>
            </a:r>
            <a:endParaRPr sz="2600">
              <a:solidFill>
                <a:schemeClr val="lt2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37" name="Google Shape;337;p55"/>
          <p:cNvSpPr txBox="1"/>
          <p:nvPr/>
        </p:nvSpPr>
        <p:spPr>
          <a:xfrm>
            <a:off x="1020000" y="2565275"/>
            <a:ext cx="3754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rPr>
              <a:t>ARe there other points?</a:t>
            </a:r>
            <a:endParaRPr sz="2600">
              <a:solidFill>
                <a:schemeClr val="lt2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38" name="Google Shape;338;p55"/>
          <p:cNvSpPr/>
          <p:nvPr/>
        </p:nvSpPr>
        <p:spPr>
          <a:xfrm>
            <a:off x="203375" y="1020525"/>
            <a:ext cx="656700" cy="647700"/>
          </a:xfrm>
          <a:prstGeom prst="ellipse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339" name="Google Shape;339;p55"/>
          <p:cNvSpPr/>
          <p:nvPr/>
        </p:nvSpPr>
        <p:spPr>
          <a:xfrm>
            <a:off x="203375" y="1777225"/>
            <a:ext cx="656700" cy="647700"/>
          </a:xfrm>
          <a:prstGeom prst="ellipse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340" name="Google Shape;340;p55"/>
          <p:cNvSpPr/>
          <p:nvPr/>
        </p:nvSpPr>
        <p:spPr>
          <a:xfrm>
            <a:off x="203375" y="2533925"/>
            <a:ext cx="656700" cy="647700"/>
          </a:xfrm>
          <a:prstGeom prst="ellipse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341" name="Google Shape;341;p55"/>
          <p:cNvSpPr/>
          <p:nvPr/>
        </p:nvSpPr>
        <p:spPr>
          <a:xfrm>
            <a:off x="203375" y="3290625"/>
            <a:ext cx="656700" cy="647700"/>
          </a:xfrm>
          <a:prstGeom prst="ellipse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342" name="Google Shape;342;p55"/>
          <p:cNvSpPr txBox="1"/>
          <p:nvPr/>
        </p:nvSpPr>
        <p:spPr>
          <a:xfrm>
            <a:off x="1020000" y="3290625"/>
            <a:ext cx="3754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rPr>
              <a:t>Are they rw / ro?</a:t>
            </a:r>
            <a:endParaRPr sz="2600">
              <a:solidFill>
                <a:schemeClr val="lt2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43" name="Google Shape;343;p55"/>
          <p:cNvSpPr/>
          <p:nvPr/>
        </p:nvSpPr>
        <p:spPr>
          <a:xfrm>
            <a:off x="203375" y="4047325"/>
            <a:ext cx="656700" cy="647700"/>
          </a:xfrm>
          <a:prstGeom prst="ellipse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344" name="Google Shape;344;p55"/>
          <p:cNvSpPr txBox="1"/>
          <p:nvPr/>
        </p:nvSpPr>
        <p:spPr>
          <a:xfrm>
            <a:off x="1020000" y="4091875"/>
            <a:ext cx="1974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rPr>
              <a:t>Move ns / ew</a:t>
            </a:r>
            <a:endParaRPr sz="2600">
              <a:solidFill>
                <a:schemeClr val="lt2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45" name="Google Shape;345;p55"/>
          <p:cNvSpPr txBox="1"/>
          <p:nvPr/>
        </p:nvSpPr>
        <p:spPr>
          <a:xfrm>
            <a:off x="249575" y="1758988"/>
            <a:ext cx="564300" cy="7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rPr>
              <a:t>3</a:t>
            </a:r>
            <a:endParaRPr sz="3600">
              <a:solidFill>
                <a:schemeClr val="lt2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46" name="Google Shape;346;p55"/>
          <p:cNvSpPr txBox="1"/>
          <p:nvPr/>
        </p:nvSpPr>
        <p:spPr>
          <a:xfrm>
            <a:off x="249575" y="4020925"/>
            <a:ext cx="564300" cy="7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rPr>
              <a:t>6</a:t>
            </a:r>
            <a:endParaRPr sz="3600">
              <a:solidFill>
                <a:schemeClr val="lt2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47" name="Google Shape;347;p55"/>
          <p:cNvSpPr txBox="1"/>
          <p:nvPr/>
        </p:nvSpPr>
        <p:spPr>
          <a:xfrm>
            <a:off x="249575" y="2507525"/>
            <a:ext cx="564300" cy="7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rPr>
              <a:t>4</a:t>
            </a:r>
            <a:endParaRPr sz="3600">
              <a:solidFill>
                <a:schemeClr val="lt2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48" name="Google Shape;348;p55"/>
          <p:cNvSpPr txBox="1"/>
          <p:nvPr/>
        </p:nvSpPr>
        <p:spPr>
          <a:xfrm>
            <a:off x="249575" y="3264225"/>
            <a:ext cx="564300" cy="7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rPr>
              <a:t>5</a:t>
            </a:r>
            <a:endParaRPr sz="3600">
              <a:solidFill>
                <a:schemeClr val="lt2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cxnSp>
        <p:nvCxnSpPr>
          <p:cNvPr id="349" name="Google Shape;349;p55"/>
          <p:cNvCxnSpPr>
            <a:stCxn id="344" idx="3"/>
            <a:endCxn id="332" idx="3"/>
          </p:cNvCxnSpPr>
          <p:nvPr/>
        </p:nvCxnSpPr>
        <p:spPr>
          <a:xfrm flipH="1" rot="10800000">
            <a:off x="2994900" y="561175"/>
            <a:ext cx="1117800" cy="3823200"/>
          </a:xfrm>
          <a:prstGeom prst="curvedConnector3">
            <a:avLst>
              <a:gd fmla="val 201926" name="adj1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6"/>
          <p:cNvSpPr/>
          <p:nvPr/>
        </p:nvSpPr>
        <p:spPr>
          <a:xfrm rot="129712">
            <a:off x="3496897" y="999054"/>
            <a:ext cx="4140988" cy="242254"/>
          </a:xfrm>
          <a:custGeom>
            <a:rect b="b" l="l" r="r" t="t"/>
            <a:pathLst>
              <a:path extrusionOk="0" h="9690" w="152400">
                <a:moveTo>
                  <a:pt x="152400" y="0"/>
                </a:moveTo>
                <a:cubicBezTo>
                  <a:pt x="101572" y="2751"/>
                  <a:pt x="50650" y="4630"/>
                  <a:pt x="0" y="9690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55" name="Google Shape;355;p56"/>
          <p:cNvSpPr txBox="1"/>
          <p:nvPr>
            <p:ph type="title"/>
          </p:nvPr>
        </p:nvSpPr>
        <p:spPr>
          <a:xfrm>
            <a:off x="742375" y="392950"/>
            <a:ext cx="7764300" cy="436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900"/>
              <a:t>without context it’s</a:t>
            </a:r>
            <a:endParaRPr sz="6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900"/>
              <a:t>not easy to determine impact</a:t>
            </a:r>
            <a:endParaRPr sz="6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7"/>
          <p:cNvSpPr txBox="1"/>
          <p:nvPr>
            <p:ph type="title"/>
          </p:nvPr>
        </p:nvSpPr>
        <p:spPr>
          <a:xfrm>
            <a:off x="0" y="0"/>
            <a:ext cx="3065700" cy="51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/>
              <a:t>Potato</a:t>
            </a:r>
            <a:endParaRPr sz="5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/>
              <a:t>Chip</a:t>
            </a:r>
            <a:endParaRPr sz="5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/>
              <a:t>Factory</a:t>
            </a:r>
            <a:endParaRPr sz="5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C</a:t>
            </a:r>
            <a:r>
              <a:rPr lang="en" sz="4500"/>
              <a:t>ontext</a:t>
            </a:r>
            <a:endParaRPr sz="4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Is key!</a:t>
            </a:r>
            <a:endParaRPr sz="4500"/>
          </a:p>
        </p:txBody>
      </p:sp>
      <p:sp>
        <p:nvSpPr>
          <p:cNvPr id="361" name="Google Shape;361;p57"/>
          <p:cNvSpPr/>
          <p:nvPr/>
        </p:nvSpPr>
        <p:spPr>
          <a:xfrm rot="129347">
            <a:off x="154277" y="4444284"/>
            <a:ext cx="1630691" cy="242254"/>
          </a:xfrm>
          <a:custGeom>
            <a:rect b="b" l="l" r="r" t="t"/>
            <a:pathLst>
              <a:path extrusionOk="0" h="9690" w="152400">
                <a:moveTo>
                  <a:pt x="152400" y="0"/>
                </a:moveTo>
                <a:cubicBezTo>
                  <a:pt x="101572" y="2751"/>
                  <a:pt x="50650" y="4630"/>
                  <a:pt x="0" y="9690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362" name="Google Shape;362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0075" y="-11"/>
            <a:ext cx="6903925" cy="5143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8"/>
          <p:cNvSpPr txBox="1"/>
          <p:nvPr>
            <p:ph type="title"/>
          </p:nvPr>
        </p:nvSpPr>
        <p:spPr>
          <a:xfrm>
            <a:off x="264450" y="696775"/>
            <a:ext cx="8615100" cy="399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Failsafes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6000"/>
              <a:t>(physical controls)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(</a:t>
            </a:r>
            <a:r>
              <a:rPr lang="en" sz="6000"/>
              <a:t>Engineeringing controls)</a:t>
            </a:r>
            <a:endParaRPr sz="6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9"/>
          <p:cNvSpPr txBox="1"/>
          <p:nvPr>
            <p:ph type="title"/>
          </p:nvPr>
        </p:nvSpPr>
        <p:spPr>
          <a:xfrm>
            <a:off x="264450" y="1102734"/>
            <a:ext cx="8615100" cy="114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The Best Failsafe</a:t>
            </a:r>
            <a:endParaRPr sz="6000"/>
          </a:p>
        </p:txBody>
      </p:sp>
      <p:sp>
        <p:nvSpPr>
          <p:cNvPr id="373" name="Google Shape;373;p59"/>
          <p:cNvSpPr txBox="1"/>
          <p:nvPr>
            <p:ph type="title"/>
          </p:nvPr>
        </p:nvSpPr>
        <p:spPr>
          <a:xfrm>
            <a:off x="264450" y="2457092"/>
            <a:ext cx="8615100" cy="114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is one that cannot be controlled</a:t>
            </a:r>
            <a:endParaRPr sz="4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0"/>
          <p:cNvSpPr txBox="1"/>
          <p:nvPr>
            <p:ph type="title"/>
          </p:nvPr>
        </p:nvSpPr>
        <p:spPr>
          <a:xfrm>
            <a:off x="264450" y="1102734"/>
            <a:ext cx="8615100" cy="114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second</a:t>
            </a:r>
            <a:r>
              <a:rPr lang="en" sz="7200"/>
              <a:t> Best option</a:t>
            </a:r>
            <a:endParaRPr sz="6000"/>
          </a:p>
        </p:txBody>
      </p:sp>
      <p:sp>
        <p:nvSpPr>
          <p:cNvPr id="379" name="Google Shape;379;p60"/>
          <p:cNvSpPr txBox="1"/>
          <p:nvPr>
            <p:ph type="title"/>
          </p:nvPr>
        </p:nvSpPr>
        <p:spPr>
          <a:xfrm>
            <a:off x="264450" y="2457092"/>
            <a:ext cx="8615100" cy="114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control at the lowest level possible</a:t>
            </a:r>
            <a:endParaRPr sz="4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1"/>
          <p:cNvSpPr txBox="1"/>
          <p:nvPr>
            <p:ph type="title"/>
          </p:nvPr>
        </p:nvSpPr>
        <p:spPr>
          <a:xfrm>
            <a:off x="264450" y="1490092"/>
            <a:ext cx="8615100" cy="21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control to the level appropriate to the risk</a:t>
            </a:r>
            <a:endParaRPr sz="6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2"/>
          <p:cNvSpPr txBox="1"/>
          <p:nvPr>
            <p:ph type="title"/>
          </p:nvPr>
        </p:nvSpPr>
        <p:spPr>
          <a:xfrm>
            <a:off x="264450" y="212925"/>
            <a:ext cx="8615100" cy="110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/>
              <a:t>Idaho national labs - aurora test</a:t>
            </a:r>
            <a:endParaRPr sz="5800"/>
          </a:p>
        </p:txBody>
      </p:sp>
      <p:sp>
        <p:nvSpPr>
          <p:cNvPr id="390" name="Google Shape;390;p62"/>
          <p:cNvSpPr/>
          <p:nvPr/>
        </p:nvSpPr>
        <p:spPr>
          <a:xfrm rot="129530">
            <a:off x="5476474" y="1018524"/>
            <a:ext cx="3105068" cy="242254"/>
          </a:xfrm>
          <a:custGeom>
            <a:rect b="b" l="l" r="r" t="t"/>
            <a:pathLst>
              <a:path extrusionOk="0" h="9690" w="152400">
                <a:moveTo>
                  <a:pt x="152400" y="0"/>
                </a:moveTo>
                <a:cubicBezTo>
                  <a:pt x="101572" y="2751"/>
                  <a:pt x="50650" y="4630"/>
                  <a:pt x="0" y="9690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391" name="Google Shape;391;p62" title="3170b478-316f-48fc-a265-91a6016c9c7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275" y="1634713"/>
            <a:ext cx="1874075" cy="187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8125" y="3508803"/>
            <a:ext cx="4857274" cy="138435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62"/>
          <p:cNvSpPr txBox="1"/>
          <p:nvPr/>
        </p:nvSpPr>
        <p:spPr>
          <a:xfrm>
            <a:off x="3103450" y="1388950"/>
            <a:ext cx="5393100" cy="20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rPr>
              <a:t>Protection relays now implement</a:t>
            </a:r>
            <a:endParaRPr sz="3500">
              <a:solidFill>
                <a:schemeClr val="lt2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rPr>
              <a:t>ANSI 25 Function (Synchrocheck)</a:t>
            </a:r>
            <a:endParaRPr sz="3500">
              <a:solidFill>
                <a:schemeClr val="lt2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3"/>
          <p:cNvSpPr txBox="1"/>
          <p:nvPr>
            <p:ph type="title"/>
          </p:nvPr>
        </p:nvSpPr>
        <p:spPr>
          <a:xfrm>
            <a:off x="0" y="0"/>
            <a:ext cx="3065700" cy="348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/>
              <a:t>Potato</a:t>
            </a:r>
            <a:endParaRPr sz="5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/>
              <a:t>Chip</a:t>
            </a:r>
            <a:endParaRPr sz="5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/>
              <a:t>Factory </a:t>
            </a:r>
            <a:r>
              <a:rPr lang="en" sz="4000"/>
              <a:t>wisconsin </a:t>
            </a:r>
            <a:endParaRPr sz="4000"/>
          </a:p>
        </p:txBody>
      </p:sp>
      <p:sp>
        <p:nvSpPr>
          <p:cNvPr id="399" name="Google Shape;399;p63"/>
          <p:cNvSpPr/>
          <p:nvPr/>
        </p:nvSpPr>
        <p:spPr>
          <a:xfrm rot="129347">
            <a:off x="154302" y="2993534"/>
            <a:ext cx="1630691" cy="242254"/>
          </a:xfrm>
          <a:custGeom>
            <a:rect b="b" l="l" r="r" t="t"/>
            <a:pathLst>
              <a:path extrusionOk="0" h="9690" w="152400">
                <a:moveTo>
                  <a:pt x="152400" y="0"/>
                </a:moveTo>
                <a:cubicBezTo>
                  <a:pt x="101572" y="2751"/>
                  <a:pt x="50650" y="4630"/>
                  <a:pt x="0" y="9690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400" name="Google Shape;400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0075" y="-11"/>
            <a:ext cx="6903925" cy="5143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4"/>
          <p:cNvSpPr txBox="1"/>
          <p:nvPr>
            <p:ph type="title"/>
          </p:nvPr>
        </p:nvSpPr>
        <p:spPr>
          <a:xfrm>
            <a:off x="264450" y="2000709"/>
            <a:ext cx="8615100" cy="114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stuxnet failsafe?</a:t>
            </a:r>
            <a:endParaRPr sz="6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5"/>
          <p:cNvSpPr txBox="1"/>
          <p:nvPr>
            <p:ph type="title"/>
          </p:nvPr>
        </p:nvSpPr>
        <p:spPr>
          <a:xfrm>
            <a:off x="264450" y="1490092"/>
            <a:ext cx="8615100" cy="21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control to the level appropriate to the risk</a:t>
            </a:r>
            <a:endParaRPr sz="6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6"/>
          <p:cNvSpPr/>
          <p:nvPr/>
        </p:nvSpPr>
        <p:spPr>
          <a:xfrm rot="129712">
            <a:off x="3496897" y="999054"/>
            <a:ext cx="4140988" cy="242254"/>
          </a:xfrm>
          <a:custGeom>
            <a:rect b="b" l="l" r="r" t="t"/>
            <a:pathLst>
              <a:path extrusionOk="0" h="9690" w="152400">
                <a:moveTo>
                  <a:pt x="152400" y="0"/>
                </a:moveTo>
                <a:cubicBezTo>
                  <a:pt x="101572" y="2751"/>
                  <a:pt x="50650" y="4630"/>
                  <a:pt x="0" y="9690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16" name="Google Shape;416;p66"/>
          <p:cNvSpPr txBox="1"/>
          <p:nvPr>
            <p:ph type="title"/>
          </p:nvPr>
        </p:nvSpPr>
        <p:spPr>
          <a:xfrm>
            <a:off x="264450" y="840750"/>
            <a:ext cx="8615100" cy="346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900"/>
              <a:t>What areas should we concentrate on to minimize exposure</a:t>
            </a:r>
            <a:r>
              <a:rPr lang="en" sz="6900"/>
              <a:t>?</a:t>
            </a:r>
            <a:endParaRPr sz="69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2264" y="86125"/>
            <a:ext cx="1230886" cy="93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025" y="803750"/>
            <a:ext cx="721825" cy="711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3" name="Google Shape;423;p67"/>
          <p:cNvCxnSpPr/>
          <p:nvPr/>
        </p:nvCxnSpPr>
        <p:spPr>
          <a:xfrm flipH="1" rot="10800000">
            <a:off x="978125" y="1153925"/>
            <a:ext cx="7803300" cy="11100"/>
          </a:xfrm>
          <a:prstGeom prst="straightConnector1">
            <a:avLst/>
          </a:prstGeom>
          <a:noFill/>
          <a:ln cap="flat" cmpd="sng" w="1143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24" name="Google Shape;424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91500" y="1352305"/>
            <a:ext cx="1131300" cy="935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69125" y="1381050"/>
            <a:ext cx="552250" cy="87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6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45138" y="1485545"/>
            <a:ext cx="552250" cy="668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6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79767" y="275525"/>
            <a:ext cx="1011008" cy="71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67"/>
          <p:cNvSpPr txBox="1"/>
          <p:nvPr>
            <p:ph type="title"/>
          </p:nvPr>
        </p:nvSpPr>
        <p:spPr>
          <a:xfrm>
            <a:off x="2715975" y="347150"/>
            <a:ext cx="2094600" cy="4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Enterprise cloud</a:t>
            </a:r>
            <a:endParaRPr sz="2600"/>
          </a:p>
        </p:txBody>
      </p:sp>
      <p:sp>
        <p:nvSpPr>
          <p:cNvPr id="429" name="Google Shape;429;p67"/>
          <p:cNvSpPr txBox="1"/>
          <p:nvPr>
            <p:ph type="title"/>
          </p:nvPr>
        </p:nvSpPr>
        <p:spPr>
          <a:xfrm>
            <a:off x="194025" y="1515200"/>
            <a:ext cx="1432500" cy="9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Controls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engineer</a:t>
            </a:r>
            <a:endParaRPr sz="2600"/>
          </a:p>
        </p:txBody>
      </p:sp>
      <p:sp>
        <p:nvSpPr>
          <p:cNvPr id="430" name="Google Shape;430;p67"/>
          <p:cNvSpPr txBox="1"/>
          <p:nvPr>
            <p:ph type="title"/>
          </p:nvPr>
        </p:nvSpPr>
        <p:spPr>
          <a:xfrm>
            <a:off x="2715972" y="1515200"/>
            <a:ext cx="1329000" cy="9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process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engineer</a:t>
            </a:r>
            <a:endParaRPr sz="2600"/>
          </a:p>
        </p:txBody>
      </p:sp>
      <p:sp>
        <p:nvSpPr>
          <p:cNvPr id="431" name="Google Shape;431;p67"/>
          <p:cNvSpPr txBox="1"/>
          <p:nvPr>
            <p:ph type="title"/>
          </p:nvPr>
        </p:nvSpPr>
        <p:spPr>
          <a:xfrm>
            <a:off x="4781024" y="1541688"/>
            <a:ext cx="7218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erp</a:t>
            </a:r>
            <a:endParaRPr sz="2600"/>
          </a:p>
        </p:txBody>
      </p:sp>
      <p:pic>
        <p:nvPicPr>
          <p:cNvPr id="432" name="Google Shape;432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29175" y="1885781"/>
            <a:ext cx="552250" cy="456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29175" y="1297556"/>
            <a:ext cx="552250" cy="456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66825" y="1885781"/>
            <a:ext cx="552250" cy="456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66825" y="1297556"/>
            <a:ext cx="552250" cy="456556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67"/>
          <p:cNvSpPr txBox="1"/>
          <p:nvPr>
            <p:ph type="title"/>
          </p:nvPr>
        </p:nvSpPr>
        <p:spPr>
          <a:xfrm>
            <a:off x="6035387" y="1541688"/>
            <a:ext cx="16536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operations</a:t>
            </a:r>
            <a:endParaRPr sz="2600"/>
          </a:p>
        </p:txBody>
      </p:sp>
      <p:pic>
        <p:nvPicPr>
          <p:cNvPr id="437" name="Google Shape;437;p6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626528" y="4187950"/>
            <a:ext cx="812747" cy="66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6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974103" y="4187950"/>
            <a:ext cx="812747" cy="66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6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552311" y="2530975"/>
            <a:ext cx="1976227" cy="55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6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45138" y="2474845"/>
            <a:ext cx="552250" cy="66878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67"/>
          <p:cNvSpPr txBox="1"/>
          <p:nvPr>
            <p:ph type="title"/>
          </p:nvPr>
        </p:nvSpPr>
        <p:spPr>
          <a:xfrm>
            <a:off x="411952" y="2959500"/>
            <a:ext cx="16536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Line scada </a:t>
            </a:r>
            <a:endParaRPr sz="2600"/>
          </a:p>
        </p:txBody>
      </p:sp>
      <p:pic>
        <p:nvPicPr>
          <p:cNvPr id="442" name="Google Shape;442;p6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69113" y="2474845"/>
            <a:ext cx="552250" cy="66878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67"/>
          <p:cNvSpPr txBox="1"/>
          <p:nvPr>
            <p:ph type="title"/>
          </p:nvPr>
        </p:nvSpPr>
        <p:spPr>
          <a:xfrm>
            <a:off x="2597050" y="2345300"/>
            <a:ext cx="1230900" cy="4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historian</a:t>
            </a:r>
            <a:endParaRPr sz="2600"/>
          </a:p>
        </p:txBody>
      </p:sp>
      <p:cxnSp>
        <p:nvCxnSpPr>
          <p:cNvPr id="444" name="Google Shape;444;p67"/>
          <p:cNvCxnSpPr>
            <a:stCxn id="426" idx="2"/>
            <a:endCxn id="440" idx="0"/>
          </p:cNvCxnSpPr>
          <p:nvPr/>
        </p:nvCxnSpPr>
        <p:spPr>
          <a:xfrm>
            <a:off x="5621263" y="2154325"/>
            <a:ext cx="0" cy="320400"/>
          </a:xfrm>
          <a:prstGeom prst="straightConnector1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5" name="Google Shape;445;p67"/>
          <p:cNvCxnSpPr>
            <a:stCxn id="442" idx="3"/>
            <a:endCxn id="440" idx="1"/>
          </p:cNvCxnSpPr>
          <p:nvPr/>
        </p:nvCxnSpPr>
        <p:spPr>
          <a:xfrm>
            <a:off x="4421363" y="2809235"/>
            <a:ext cx="923700" cy="0"/>
          </a:xfrm>
          <a:prstGeom prst="straightConnector1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" name="Google Shape;446;p67"/>
          <p:cNvCxnSpPr>
            <a:stCxn id="425" idx="2"/>
            <a:endCxn id="442" idx="0"/>
          </p:cNvCxnSpPr>
          <p:nvPr/>
        </p:nvCxnSpPr>
        <p:spPr>
          <a:xfrm>
            <a:off x="4145250" y="2258825"/>
            <a:ext cx="0" cy="216000"/>
          </a:xfrm>
          <a:prstGeom prst="straightConnector1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7" name="Google Shape;447;p67"/>
          <p:cNvSpPr txBox="1"/>
          <p:nvPr>
            <p:ph type="title"/>
          </p:nvPr>
        </p:nvSpPr>
        <p:spPr>
          <a:xfrm>
            <a:off x="5897412" y="2088563"/>
            <a:ext cx="16536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Site scada</a:t>
            </a:r>
            <a:endParaRPr sz="2600"/>
          </a:p>
        </p:txBody>
      </p:sp>
      <p:cxnSp>
        <p:nvCxnSpPr>
          <p:cNvPr id="448" name="Google Shape;448;p67"/>
          <p:cNvCxnSpPr>
            <a:stCxn id="440" idx="3"/>
            <a:endCxn id="439" idx="1"/>
          </p:cNvCxnSpPr>
          <p:nvPr/>
        </p:nvCxnSpPr>
        <p:spPr>
          <a:xfrm>
            <a:off x="5897388" y="2809235"/>
            <a:ext cx="654900" cy="0"/>
          </a:xfrm>
          <a:prstGeom prst="straightConnector1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9" name="Google Shape;449;p6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774586" y="3216675"/>
            <a:ext cx="1976227" cy="556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0" name="Google Shape;450;p67"/>
          <p:cNvCxnSpPr>
            <a:stCxn id="424" idx="2"/>
            <a:endCxn id="449" idx="0"/>
          </p:cNvCxnSpPr>
          <p:nvPr/>
        </p:nvCxnSpPr>
        <p:spPr>
          <a:xfrm flipH="1" rot="-5400000">
            <a:off x="1895350" y="2349387"/>
            <a:ext cx="929100" cy="805500"/>
          </a:xfrm>
          <a:prstGeom prst="bentConnector3">
            <a:avLst>
              <a:gd fmla="val 71945" name="adj1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" name="Google Shape;451;p67"/>
          <p:cNvCxnSpPr>
            <a:stCxn id="437" idx="0"/>
            <a:endCxn id="449" idx="2"/>
          </p:cNvCxnSpPr>
          <p:nvPr/>
        </p:nvCxnSpPr>
        <p:spPr>
          <a:xfrm rot="-5400000">
            <a:off x="2190401" y="3615550"/>
            <a:ext cx="414900" cy="729900"/>
          </a:xfrm>
          <a:prstGeom prst="bentConnector3">
            <a:avLst>
              <a:gd fmla="val 49985" name="adj1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67"/>
          <p:cNvCxnSpPr>
            <a:stCxn id="438" idx="0"/>
            <a:endCxn id="449" idx="2"/>
          </p:cNvCxnSpPr>
          <p:nvPr/>
        </p:nvCxnSpPr>
        <p:spPr>
          <a:xfrm flipH="1" rot="5400000">
            <a:off x="2864176" y="3671650"/>
            <a:ext cx="414900" cy="617700"/>
          </a:xfrm>
          <a:prstGeom prst="bentConnector3">
            <a:avLst>
              <a:gd fmla="val 49985" name="adj1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3" name="Google Shape;453;p67"/>
          <p:cNvSpPr txBox="1"/>
          <p:nvPr>
            <p:ph type="title"/>
          </p:nvPr>
        </p:nvSpPr>
        <p:spPr>
          <a:xfrm>
            <a:off x="4798499" y="2358675"/>
            <a:ext cx="7218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mes</a:t>
            </a:r>
            <a:endParaRPr sz="2600"/>
          </a:p>
        </p:txBody>
      </p:sp>
      <p:pic>
        <p:nvPicPr>
          <p:cNvPr id="454" name="Google Shape;454;p6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473403" y="4180625"/>
            <a:ext cx="812747" cy="66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6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665903" y="4180625"/>
            <a:ext cx="812747" cy="66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6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016151" y="4124787"/>
            <a:ext cx="552250" cy="780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6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56348" y="4129736"/>
            <a:ext cx="394500" cy="7705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8" name="Google Shape;458;p67"/>
          <p:cNvCxnSpPr>
            <a:stCxn id="457" idx="3"/>
            <a:endCxn id="437" idx="1"/>
          </p:cNvCxnSpPr>
          <p:nvPr/>
        </p:nvCxnSpPr>
        <p:spPr>
          <a:xfrm>
            <a:off x="850848" y="4515020"/>
            <a:ext cx="775800" cy="7200"/>
          </a:xfrm>
          <a:prstGeom prst="straightConnector1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9" name="Google Shape;459;p67"/>
          <p:cNvCxnSpPr>
            <a:stCxn id="449" idx="0"/>
            <a:endCxn id="442" idx="1"/>
          </p:cNvCxnSpPr>
          <p:nvPr/>
        </p:nvCxnSpPr>
        <p:spPr>
          <a:xfrm rot="-5400000">
            <a:off x="3112199" y="2459775"/>
            <a:ext cx="407400" cy="1106400"/>
          </a:xfrm>
          <a:prstGeom prst="bentConnector2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0" name="Google Shape;460;p67"/>
          <p:cNvCxnSpPr>
            <a:stCxn id="454" idx="0"/>
            <a:endCxn id="449" idx="3"/>
          </p:cNvCxnSpPr>
          <p:nvPr/>
        </p:nvCxnSpPr>
        <p:spPr>
          <a:xfrm flipH="1" rot="5400000">
            <a:off x="3972426" y="3273275"/>
            <a:ext cx="685800" cy="1128900"/>
          </a:xfrm>
          <a:prstGeom prst="bentConnector2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" name="Google Shape;461;p67"/>
          <p:cNvCxnSpPr>
            <a:stCxn id="455" idx="0"/>
            <a:endCxn id="449" idx="3"/>
          </p:cNvCxnSpPr>
          <p:nvPr/>
        </p:nvCxnSpPr>
        <p:spPr>
          <a:xfrm flipH="1" rot="5400000">
            <a:off x="4568676" y="2677025"/>
            <a:ext cx="685800" cy="2321400"/>
          </a:xfrm>
          <a:prstGeom prst="bentConnector2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2" name="Google Shape;462;p67"/>
          <p:cNvCxnSpPr>
            <a:stCxn id="456" idx="0"/>
            <a:endCxn id="449" idx="3"/>
          </p:cNvCxnSpPr>
          <p:nvPr/>
        </p:nvCxnSpPr>
        <p:spPr>
          <a:xfrm flipH="1" rot="5400000">
            <a:off x="5206526" y="2039037"/>
            <a:ext cx="630000" cy="3541500"/>
          </a:xfrm>
          <a:prstGeom prst="bentConnector2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3" name="Google Shape;463;p67"/>
          <p:cNvSpPr txBox="1"/>
          <p:nvPr>
            <p:ph type="title"/>
          </p:nvPr>
        </p:nvSpPr>
        <p:spPr>
          <a:xfrm>
            <a:off x="492600" y="3631450"/>
            <a:ext cx="13290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Machine 1</a:t>
            </a:r>
            <a:endParaRPr sz="2600"/>
          </a:p>
        </p:txBody>
      </p:sp>
      <p:sp>
        <p:nvSpPr>
          <p:cNvPr id="464" name="Google Shape;464;p67"/>
          <p:cNvSpPr txBox="1"/>
          <p:nvPr>
            <p:ph type="title"/>
          </p:nvPr>
        </p:nvSpPr>
        <p:spPr>
          <a:xfrm>
            <a:off x="7452425" y="3520250"/>
            <a:ext cx="13290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Machine 2</a:t>
            </a:r>
            <a:endParaRPr sz="26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68"/>
          <p:cNvSpPr/>
          <p:nvPr/>
        </p:nvSpPr>
        <p:spPr>
          <a:xfrm rot="129712">
            <a:off x="3496897" y="999054"/>
            <a:ext cx="4140988" cy="242254"/>
          </a:xfrm>
          <a:custGeom>
            <a:rect b="b" l="l" r="r" t="t"/>
            <a:pathLst>
              <a:path extrusionOk="0" h="9690" w="152400">
                <a:moveTo>
                  <a:pt x="152400" y="0"/>
                </a:moveTo>
                <a:cubicBezTo>
                  <a:pt x="101572" y="2751"/>
                  <a:pt x="50650" y="4630"/>
                  <a:pt x="0" y="9690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70" name="Google Shape;470;p68"/>
          <p:cNvSpPr txBox="1"/>
          <p:nvPr>
            <p:ph type="title"/>
          </p:nvPr>
        </p:nvSpPr>
        <p:spPr>
          <a:xfrm>
            <a:off x="264450" y="840750"/>
            <a:ext cx="8615100" cy="346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900"/>
              <a:t>Interactions between enterprise it and ot services</a:t>
            </a:r>
            <a:endParaRPr sz="69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2264" y="86125"/>
            <a:ext cx="1230886" cy="93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025" y="803750"/>
            <a:ext cx="721825" cy="711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7" name="Google Shape;477;p69"/>
          <p:cNvCxnSpPr/>
          <p:nvPr/>
        </p:nvCxnSpPr>
        <p:spPr>
          <a:xfrm flipH="1" rot="10800000">
            <a:off x="978125" y="1153925"/>
            <a:ext cx="7803300" cy="11100"/>
          </a:xfrm>
          <a:prstGeom prst="straightConnector1">
            <a:avLst/>
          </a:prstGeom>
          <a:noFill/>
          <a:ln cap="flat" cmpd="sng" w="1143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8" name="Google Shape;478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91500" y="1352305"/>
            <a:ext cx="1131300" cy="935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69125" y="1381050"/>
            <a:ext cx="552250" cy="87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45138" y="1485545"/>
            <a:ext cx="552250" cy="668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6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79767" y="275525"/>
            <a:ext cx="1011008" cy="71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69"/>
          <p:cNvSpPr txBox="1"/>
          <p:nvPr>
            <p:ph type="title"/>
          </p:nvPr>
        </p:nvSpPr>
        <p:spPr>
          <a:xfrm>
            <a:off x="2715975" y="347150"/>
            <a:ext cx="2094600" cy="4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Enterprise cloud</a:t>
            </a:r>
            <a:endParaRPr sz="2600"/>
          </a:p>
        </p:txBody>
      </p:sp>
      <p:sp>
        <p:nvSpPr>
          <p:cNvPr id="483" name="Google Shape;483;p69"/>
          <p:cNvSpPr txBox="1"/>
          <p:nvPr>
            <p:ph type="title"/>
          </p:nvPr>
        </p:nvSpPr>
        <p:spPr>
          <a:xfrm>
            <a:off x="194025" y="1515200"/>
            <a:ext cx="1432500" cy="9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Controls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engineer</a:t>
            </a:r>
            <a:endParaRPr sz="2600"/>
          </a:p>
        </p:txBody>
      </p:sp>
      <p:sp>
        <p:nvSpPr>
          <p:cNvPr id="484" name="Google Shape;484;p69"/>
          <p:cNvSpPr txBox="1"/>
          <p:nvPr>
            <p:ph type="title"/>
          </p:nvPr>
        </p:nvSpPr>
        <p:spPr>
          <a:xfrm>
            <a:off x="2715972" y="1515200"/>
            <a:ext cx="1329000" cy="9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process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engineer</a:t>
            </a:r>
            <a:endParaRPr sz="2600"/>
          </a:p>
        </p:txBody>
      </p:sp>
      <p:sp>
        <p:nvSpPr>
          <p:cNvPr id="485" name="Google Shape;485;p69"/>
          <p:cNvSpPr txBox="1"/>
          <p:nvPr>
            <p:ph type="title"/>
          </p:nvPr>
        </p:nvSpPr>
        <p:spPr>
          <a:xfrm>
            <a:off x="4781024" y="1541688"/>
            <a:ext cx="7218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erp</a:t>
            </a:r>
            <a:endParaRPr sz="2600"/>
          </a:p>
        </p:txBody>
      </p:sp>
      <p:pic>
        <p:nvPicPr>
          <p:cNvPr id="486" name="Google Shape;486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29175" y="1885781"/>
            <a:ext cx="552250" cy="456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29175" y="1297556"/>
            <a:ext cx="552250" cy="456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66825" y="1885781"/>
            <a:ext cx="552250" cy="456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66825" y="1297556"/>
            <a:ext cx="552250" cy="456556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69"/>
          <p:cNvSpPr txBox="1"/>
          <p:nvPr>
            <p:ph type="title"/>
          </p:nvPr>
        </p:nvSpPr>
        <p:spPr>
          <a:xfrm>
            <a:off x="6035387" y="1541688"/>
            <a:ext cx="16536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operations</a:t>
            </a:r>
            <a:endParaRPr sz="2600"/>
          </a:p>
        </p:txBody>
      </p:sp>
      <p:pic>
        <p:nvPicPr>
          <p:cNvPr id="491" name="Google Shape;491;p6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626528" y="4187950"/>
            <a:ext cx="812747" cy="66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6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974103" y="4187950"/>
            <a:ext cx="812747" cy="66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6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552311" y="2530975"/>
            <a:ext cx="1976227" cy="55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45138" y="2474845"/>
            <a:ext cx="552250" cy="66878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69"/>
          <p:cNvSpPr txBox="1"/>
          <p:nvPr>
            <p:ph type="title"/>
          </p:nvPr>
        </p:nvSpPr>
        <p:spPr>
          <a:xfrm>
            <a:off x="411952" y="2959500"/>
            <a:ext cx="16536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Line scada </a:t>
            </a:r>
            <a:endParaRPr sz="2600"/>
          </a:p>
        </p:txBody>
      </p:sp>
      <p:pic>
        <p:nvPicPr>
          <p:cNvPr id="496" name="Google Shape;496;p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69113" y="2474845"/>
            <a:ext cx="552250" cy="66878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69"/>
          <p:cNvSpPr txBox="1"/>
          <p:nvPr>
            <p:ph type="title"/>
          </p:nvPr>
        </p:nvSpPr>
        <p:spPr>
          <a:xfrm>
            <a:off x="2597050" y="2345300"/>
            <a:ext cx="1230900" cy="4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historian</a:t>
            </a:r>
            <a:endParaRPr sz="2600"/>
          </a:p>
        </p:txBody>
      </p:sp>
      <p:cxnSp>
        <p:nvCxnSpPr>
          <p:cNvPr id="498" name="Google Shape;498;p69"/>
          <p:cNvCxnSpPr>
            <a:stCxn id="480" idx="2"/>
            <a:endCxn id="494" idx="0"/>
          </p:cNvCxnSpPr>
          <p:nvPr/>
        </p:nvCxnSpPr>
        <p:spPr>
          <a:xfrm>
            <a:off x="5621263" y="2154325"/>
            <a:ext cx="0" cy="320400"/>
          </a:xfrm>
          <a:prstGeom prst="straightConnector1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9" name="Google Shape;499;p69"/>
          <p:cNvCxnSpPr>
            <a:stCxn id="496" idx="3"/>
            <a:endCxn id="494" idx="1"/>
          </p:cNvCxnSpPr>
          <p:nvPr/>
        </p:nvCxnSpPr>
        <p:spPr>
          <a:xfrm>
            <a:off x="4421363" y="2809235"/>
            <a:ext cx="923700" cy="0"/>
          </a:xfrm>
          <a:prstGeom prst="straightConnector1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0" name="Google Shape;500;p69"/>
          <p:cNvCxnSpPr>
            <a:stCxn id="479" idx="2"/>
            <a:endCxn id="496" idx="0"/>
          </p:cNvCxnSpPr>
          <p:nvPr/>
        </p:nvCxnSpPr>
        <p:spPr>
          <a:xfrm>
            <a:off x="4145250" y="2258825"/>
            <a:ext cx="0" cy="216000"/>
          </a:xfrm>
          <a:prstGeom prst="straightConnector1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1" name="Google Shape;501;p69"/>
          <p:cNvSpPr txBox="1"/>
          <p:nvPr>
            <p:ph type="title"/>
          </p:nvPr>
        </p:nvSpPr>
        <p:spPr>
          <a:xfrm>
            <a:off x="5897412" y="2088563"/>
            <a:ext cx="16536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Site scada</a:t>
            </a:r>
            <a:endParaRPr sz="2600"/>
          </a:p>
        </p:txBody>
      </p:sp>
      <p:cxnSp>
        <p:nvCxnSpPr>
          <p:cNvPr id="502" name="Google Shape;502;p69"/>
          <p:cNvCxnSpPr>
            <a:stCxn id="494" idx="3"/>
            <a:endCxn id="493" idx="1"/>
          </p:cNvCxnSpPr>
          <p:nvPr/>
        </p:nvCxnSpPr>
        <p:spPr>
          <a:xfrm>
            <a:off x="5897388" y="2809235"/>
            <a:ext cx="654900" cy="0"/>
          </a:xfrm>
          <a:prstGeom prst="straightConnector1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03" name="Google Shape;503;p6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774586" y="3216675"/>
            <a:ext cx="1976227" cy="556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4" name="Google Shape;504;p69"/>
          <p:cNvCxnSpPr>
            <a:stCxn id="478" idx="2"/>
            <a:endCxn id="503" idx="0"/>
          </p:cNvCxnSpPr>
          <p:nvPr/>
        </p:nvCxnSpPr>
        <p:spPr>
          <a:xfrm flipH="1" rot="-5400000">
            <a:off x="1895350" y="2349387"/>
            <a:ext cx="929100" cy="805500"/>
          </a:xfrm>
          <a:prstGeom prst="bentConnector3">
            <a:avLst>
              <a:gd fmla="val 71945" name="adj1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" name="Google Shape;505;p69"/>
          <p:cNvCxnSpPr>
            <a:stCxn id="491" idx="0"/>
            <a:endCxn id="503" idx="2"/>
          </p:cNvCxnSpPr>
          <p:nvPr/>
        </p:nvCxnSpPr>
        <p:spPr>
          <a:xfrm rot="-5400000">
            <a:off x="2190401" y="3615550"/>
            <a:ext cx="414900" cy="729900"/>
          </a:xfrm>
          <a:prstGeom prst="bentConnector3">
            <a:avLst>
              <a:gd fmla="val 49985" name="adj1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" name="Google Shape;506;p69"/>
          <p:cNvCxnSpPr>
            <a:stCxn id="492" idx="0"/>
            <a:endCxn id="503" idx="2"/>
          </p:cNvCxnSpPr>
          <p:nvPr/>
        </p:nvCxnSpPr>
        <p:spPr>
          <a:xfrm flipH="1" rot="5400000">
            <a:off x="2864176" y="3671650"/>
            <a:ext cx="414900" cy="617700"/>
          </a:xfrm>
          <a:prstGeom prst="bentConnector3">
            <a:avLst>
              <a:gd fmla="val 49985" name="adj1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7" name="Google Shape;507;p69"/>
          <p:cNvSpPr txBox="1"/>
          <p:nvPr>
            <p:ph type="title"/>
          </p:nvPr>
        </p:nvSpPr>
        <p:spPr>
          <a:xfrm>
            <a:off x="4798499" y="2358675"/>
            <a:ext cx="7218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mes</a:t>
            </a:r>
            <a:endParaRPr sz="2600"/>
          </a:p>
        </p:txBody>
      </p:sp>
      <p:pic>
        <p:nvPicPr>
          <p:cNvPr id="508" name="Google Shape;508;p6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473403" y="4180625"/>
            <a:ext cx="812747" cy="66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6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665903" y="4180625"/>
            <a:ext cx="812747" cy="66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6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016151" y="4124787"/>
            <a:ext cx="552250" cy="780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6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56348" y="4129736"/>
            <a:ext cx="394500" cy="7705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2" name="Google Shape;512;p69"/>
          <p:cNvCxnSpPr>
            <a:stCxn id="511" idx="3"/>
            <a:endCxn id="491" idx="1"/>
          </p:cNvCxnSpPr>
          <p:nvPr/>
        </p:nvCxnSpPr>
        <p:spPr>
          <a:xfrm>
            <a:off x="850848" y="4515020"/>
            <a:ext cx="775800" cy="7200"/>
          </a:xfrm>
          <a:prstGeom prst="straightConnector1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3" name="Google Shape;513;p69"/>
          <p:cNvCxnSpPr>
            <a:stCxn id="503" idx="0"/>
            <a:endCxn id="496" idx="1"/>
          </p:cNvCxnSpPr>
          <p:nvPr/>
        </p:nvCxnSpPr>
        <p:spPr>
          <a:xfrm rot="-5400000">
            <a:off x="3112199" y="2459775"/>
            <a:ext cx="407400" cy="1106400"/>
          </a:xfrm>
          <a:prstGeom prst="bentConnector2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4" name="Google Shape;514;p69"/>
          <p:cNvCxnSpPr>
            <a:stCxn id="508" idx="0"/>
            <a:endCxn id="503" idx="3"/>
          </p:cNvCxnSpPr>
          <p:nvPr/>
        </p:nvCxnSpPr>
        <p:spPr>
          <a:xfrm flipH="1" rot="5400000">
            <a:off x="3972426" y="3273275"/>
            <a:ext cx="685800" cy="1128900"/>
          </a:xfrm>
          <a:prstGeom prst="bentConnector2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" name="Google Shape;515;p69"/>
          <p:cNvCxnSpPr>
            <a:stCxn id="509" idx="0"/>
            <a:endCxn id="503" idx="3"/>
          </p:cNvCxnSpPr>
          <p:nvPr/>
        </p:nvCxnSpPr>
        <p:spPr>
          <a:xfrm flipH="1" rot="5400000">
            <a:off x="4568676" y="2677025"/>
            <a:ext cx="685800" cy="2321400"/>
          </a:xfrm>
          <a:prstGeom prst="bentConnector2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" name="Google Shape;516;p69"/>
          <p:cNvCxnSpPr>
            <a:stCxn id="510" idx="0"/>
            <a:endCxn id="503" idx="3"/>
          </p:cNvCxnSpPr>
          <p:nvPr/>
        </p:nvCxnSpPr>
        <p:spPr>
          <a:xfrm flipH="1" rot="5400000">
            <a:off x="5206526" y="2039037"/>
            <a:ext cx="630000" cy="3541500"/>
          </a:xfrm>
          <a:prstGeom prst="bentConnector2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7" name="Google Shape;517;p69"/>
          <p:cNvSpPr txBox="1"/>
          <p:nvPr>
            <p:ph type="title"/>
          </p:nvPr>
        </p:nvSpPr>
        <p:spPr>
          <a:xfrm>
            <a:off x="492600" y="3631450"/>
            <a:ext cx="13290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Machine 1</a:t>
            </a:r>
            <a:endParaRPr sz="2600"/>
          </a:p>
        </p:txBody>
      </p:sp>
      <p:sp>
        <p:nvSpPr>
          <p:cNvPr id="518" name="Google Shape;518;p69"/>
          <p:cNvSpPr txBox="1"/>
          <p:nvPr>
            <p:ph type="title"/>
          </p:nvPr>
        </p:nvSpPr>
        <p:spPr>
          <a:xfrm>
            <a:off x="7452425" y="3520250"/>
            <a:ext cx="13290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Machine 2</a:t>
            </a:r>
            <a:endParaRPr sz="2600"/>
          </a:p>
        </p:txBody>
      </p:sp>
      <p:sp>
        <p:nvSpPr>
          <p:cNvPr id="519" name="Google Shape;519;p69"/>
          <p:cNvSpPr/>
          <p:nvPr/>
        </p:nvSpPr>
        <p:spPr>
          <a:xfrm>
            <a:off x="4781025" y="86125"/>
            <a:ext cx="1186500" cy="31986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70"/>
          <p:cNvSpPr/>
          <p:nvPr/>
        </p:nvSpPr>
        <p:spPr>
          <a:xfrm rot="129712">
            <a:off x="3496897" y="999054"/>
            <a:ext cx="4140988" cy="242254"/>
          </a:xfrm>
          <a:custGeom>
            <a:rect b="b" l="l" r="r" t="t"/>
            <a:pathLst>
              <a:path extrusionOk="0" h="9690" w="152400">
                <a:moveTo>
                  <a:pt x="152400" y="0"/>
                </a:moveTo>
                <a:cubicBezTo>
                  <a:pt x="101572" y="2751"/>
                  <a:pt x="50650" y="4630"/>
                  <a:pt x="0" y="9690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25" name="Google Shape;525;p70"/>
          <p:cNvSpPr txBox="1"/>
          <p:nvPr>
            <p:ph type="title"/>
          </p:nvPr>
        </p:nvSpPr>
        <p:spPr>
          <a:xfrm>
            <a:off x="264450" y="840750"/>
            <a:ext cx="8615100" cy="346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900"/>
              <a:t>Scada systems /</a:t>
            </a:r>
            <a:endParaRPr sz="6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900"/>
              <a:t>The integration</a:t>
            </a:r>
            <a:r>
              <a:rPr lang="en" sz="6900"/>
              <a:t> between production machines</a:t>
            </a:r>
            <a:endParaRPr sz="6900"/>
          </a:p>
        </p:txBody>
      </p:sp>
      <p:sp>
        <p:nvSpPr>
          <p:cNvPr id="526" name="Google Shape;526;p70"/>
          <p:cNvSpPr txBox="1"/>
          <p:nvPr/>
        </p:nvSpPr>
        <p:spPr>
          <a:xfrm rot="-1118680">
            <a:off x="5209517" y="3779087"/>
            <a:ext cx="3680347" cy="72347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rPr>
              <a:t>Especially web-based!</a:t>
            </a:r>
            <a:endParaRPr sz="3500">
              <a:solidFill>
                <a:schemeClr val="lt2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1" name="Google Shape;531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2264" y="86125"/>
            <a:ext cx="1230886" cy="93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025" y="803750"/>
            <a:ext cx="721825" cy="711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3" name="Google Shape;533;p71"/>
          <p:cNvCxnSpPr/>
          <p:nvPr/>
        </p:nvCxnSpPr>
        <p:spPr>
          <a:xfrm flipH="1" rot="10800000">
            <a:off x="978125" y="1153925"/>
            <a:ext cx="7803300" cy="11100"/>
          </a:xfrm>
          <a:prstGeom prst="straightConnector1">
            <a:avLst/>
          </a:prstGeom>
          <a:noFill/>
          <a:ln cap="flat" cmpd="sng" w="1143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34" name="Google Shape;534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91500" y="1352305"/>
            <a:ext cx="1131300" cy="935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69125" y="1381050"/>
            <a:ext cx="552250" cy="87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7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45138" y="1485545"/>
            <a:ext cx="552250" cy="668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7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79767" y="275525"/>
            <a:ext cx="1011008" cy="71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71"/>
          <p:cNvSpPr txBox="1"/>
          <p:nvPr>
            <p:ph type="title"/>
          </p:nvPr>
        </p:nvSpPr>
        <p:spPr>
          <a:xfrm>
            <a:off x="2715975" y="347150"/>
            <a:ext cx="2094600" cy="4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Enterprise cloud</a:t>
            </a:r>
            <a:endParaRPr sz="2600"/>
          </a:p>
        </p:txBody>
      </p:sp>
      <p:sp>
        <p:nvSpPr>
          <p:cNvPr id="539" name="Google Shape;539;p71"/>
          <p:cNvSpPr txBox="1"/>
          <p:nvPr>
            <p:ph type="title"/>
          </p:nvPr>
        </p:nvSpPr>
        <p:spPr>
          <a:xfrm>
            <a:off x="194025" y="1515200"/>
            <a:ext cx="1432500" cy="9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Controls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engineer</a:t>
            </a:r>
            <a:endParaRPr sz="2600"/>
          </a:p>
        </p:txBody>
      </p:sp>
      <p:sp>
        <p:nvSpPr>
          <p:cNvPr id="540" name="Google Shape;540;p71"/>
          <p:cNvSpPr txBox="1"/>
          <p:nvPr>
            <p:ph type="title"/>
          </p:nvPr>
        </p:nvSpPr>
        <p:spPr>
          <a:xfrm>
            <a:off x="2715972" y="1515200"/>
            <a:ext cx="1329000" cy="9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process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engineer</a:t>
            </a:r>
            <a:endParaRPr sz="2600"/>
          </a:p>
        </p:txBody>
      </p:sp>
      <p:sp>
        <p:nvSpPr>
          <p:cNvPr id="541" name="Google Shape;541;p71"/>
          <p:cNvSpPr txBox="1"/>
          <p:nvPr>
            <p:ph type="title"/>
          </p:nvPr>
        </p:nvSpPr>
        <p:spPr>
          <a:xfrm>
            <a:off x="4781024" y="1541688"/>
            <a:ext cx="7218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erp</a:t>
            </a:r>
            <a:endParaRPr sz="2600"/>
          </a:p>
        </p:txBody>
      </p:sp>
      <p:pic>
        <p:nvPicPr>
          <p:cNvPr id="542" name="Google Shape;542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29175" y="1885781"/>
            <a:ext cx="552250" cy="456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29175" y="1297556"/>
            <a:ext cx="552250" cy="456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66825" y="1885781"/>
            <a:ext cx="552250" cy="456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66825" y="1297556"/>
            <a:ext cx="552250" cy="456556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71"/>
          <p:cNvSpPr txBox="1"/>
          <p:nvPr>
            <p:ph type="title"/>
          </p:nvPr>
        </p:nvSpPr>
        <p:spPr>
          <a:xfrm>
            <a:off x="6035387" y="1541688"/>
            <a:ext cx="16536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operations</a:t>
            </a:r>
            <a:endParaRPr sz="2600"/>
          </a:p>
        </p:txBody>
      </p:sp>
      <p:pic>
        <p:nvPicPr>
          <p:cNvPr id="547" name="Google Shape;547;p7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626528" y="4187950"/>
            <a:ext cx="812747" cy="66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7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974103" y="4187950"/>
            <a:ext cx="812747" cy="66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7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552311" y="2530975"/>
            <a:ext cx="1976227" cy="55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7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45138" y="2474845"/>
            <a:ext cx="552250" cy="66878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71"/>
          <p:cNvSpPr txBox="1"/>
          <p:nvPr>
            <p:ph type="title"/>
          </p:nvPr>
        </p:nvSpPr>
        <p:spPr>
          <a:xfrm>
            <a:off x="411952" y="2959500"/>
            <a:ext cx="16536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Line scada </a:t>
            </a:r>
            <a:endParaRPr sz="2600"/>
          </a:p>
        </p:txBody>
      </p:sp>
      <p:pic>
        <p:nvPicPr>
          <p:cNvPr id="552" name="Google Shape;552;p7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69113" y="2474845"/>
            <a:ext cx="552250" cy="66878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71"/>
          <p:cNvSpPr txBox="1"/>
          <p:nvPr>
            <p:ph type="title"/>
          </p:nvPr>
        </p:nvSpPr>
        <p:spPr>
          <a:xfrm>
            <a:off x="2597050" y="2345300"/>
            <a:ext cx="1230900" cy="4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historian</a:t>
            </a:r>
            <a:endParaRPr sz="2600"/>
          </a:p>
        </p:txBody>
      </p:sp>
      <p:cxnSp>
        <p:nvCxnSpPr>
          <p:cNvPr id="554" name="Google Shape;554;p71"/>
          <p:cNvCxnSpPr>
            <a:stCxn id="536" idx="2"/>
            <a:endCxn id="550" idx="0"/>
          </p:cNvCxnSpPr>
          <p:nvPr/>
        </p:nvCxnSpPr>
        <p:spPr>
          <a:xfrm>
            <a:off x="5621263" y="2154325"/>
            <a:ext cx="0" cy="320400"/>
          </a:xfrm>
          <a:prstGeom prst="straightConnector1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5" name="Google Shape;555;p71"/>
          <p:cNvCxnSpPr>
            <a:stCxn id="552" idx="3"/>
            <a:endCxn id="550" idx="1"/>
          </p:cNvCxnSpPr>
          <p:nvPr/>
        </p:nvCxnSpPr>
        <p:spPr>
          <a:xfrm>
            <a:off x="4421363" y="2809235"/>
            <a:ext cx="923700" cy="0"/>
          </a:xfrm>
          <a:prstGeom prst="straightConnector1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6" name="Google Shape;556;p71"/>
          <p:cNvCxnSpPr>
            <a:stCxn id="535" idx="2"/>
            <a:endCxn id="552" idx="0"/>
          </p:cNvCxnSpPr>
          <p:nvPr/>
        </p:nvCxnSpPr>
        <p:spPr>
          <a:xfrm>
            <a:off x="4145250" y="2258825"/>
            <a:ext cx="0" cy="216000"/>
          </a:xfrm>
          <a:prstGeom prst="straightConnector1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7" name="Google Shape;557;p71"/>
          <p:cNvSpPr txBox="1"/>
          <p:nvPr>
            <p:ph type="title"/>
          </p:nvPr>
        </p:nvSpPr>
        <p:spPr>
          <a:xfrm>
            <a:off x="5897412" y="2088563"/>
            <a:ext cx="16536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Site scada</a:t>
            </a:r>
            <a:endParaRPr sz="2600"/>
          </a:p>
        </p:txBody>
      </p:sp>
      <p:cxnSp>
        <p:nvCxnSpPr>
          <p:cNvPr id="558" name="Google Shape;558;p71"/>
          <p:cNvCxnSpPr>
            <a:stCxn id="550" idx="3"/>
            <a:endCxn id="549" idx="1"/>
          </p:cNvCxnSpPr>
          <p:nvPr/>
        </p:nvCxnSpPr>
        <p:spPr>
          <a:xfrm>
            <a:off x="5897388" y="2809235"/>
            <a:ext cx="654900" cy="0"/>
          </a:xfrm>
          <a:prstGeom prst="straightConnector1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59" name="Google Shape;559;p7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774586" y="3216675"/>
            <a:ext cx="1976227" cy="556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0" name="Google Shape;560;p71"/>
          <p:cNvCxnSpPr>
            <a:stCxn id="534" idx="2"/>
            <a:endCxn id="559" idx="0"/>
          </p:cNvCxnSpPr>
          <p:nvPr/>
        </p:nvCxnSpPr>
        <p:spPr>
          <a:xfrm flipH="1" rot="-5400000">
            <a:off x="1895350" y="2349387"/>
            <a:ext cx="929100" cy="805500"/>
          </a:xfrm>
          <a:prstGeom prst="bentConnector3">
            <a:avLst>
              <a:gd fmla="val 71945" name="adj1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1" name="Google Shape;561;p71"/>
          <p:cNvCxnSpPr>
            <a:stCxn id="547" idx="0"/>
            <a:endCxn id="559" idx="2"/>
          </p:cNvCxnSpPr>
          <p:nvPr/>
        </p:nvCxnSpPr>
        <p:spPr>
          <a:xfrm rot="-5400000">
            <a:off x="2190401" y="3615550"/>
            <a:ext cx="414900" cy="729900"/>
          </a:xfrm>
          <a:prstGeom prst="bentConnector3">
            <a:avLst>
              <a:gd fmla="val 49985" name="adj1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2" name="Google Shape;562;p71"/>
          <p:cNvCxnSpPr>
            <a:stCxn id="548" idx="0"/>
            <a:endCxn id="559" idx="2"/>
          </p:cNvCxnSpPr>
          <p:nvPr/>
        </p:nvCxnSpPr>
        <p:spPr>
          <a:xfrm flipH="1" rot="5400000">
            <a:off x="2864176" y="3671650"/>
            <a:ext cx="414900" cy="617700"/>
          </a:xfrm>
          <a:prstGeom prst="bentConnector3">
            <a:avLst>
              <a:gd fmla="val 49985" name="adj1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3" name="Google Shape;563;p71"/>
          <p:cNvSpPr txBox="1"/>
          <p:nvPr>
            <p:ph type="title"/>
          </p:nvPr>
        </p:nvSpPr>
        <p:spPr>
          <a:xfrm>
            <a:off x="4798499" y="2358675"/>
            <a:ext cx="7218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mes</a:t>
            </a:r>
            <a:endParaRPr sz="2600"/>
          </a:p>
        </p:txBody>
      </p:sp>
      <p:pic>
        <p:nvPicPr>
          <p:cNvPr id="564" name="Google Shape;564;p7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473403" y="4180625"/>
            <a:ext cx="812747" cy="66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7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665903" y="4180625"/>
            <a:ext cx="812747" cy="66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7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016151" y="4124787"/>
            <a:ext cx="552250" cy="780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7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56348" y="4129736"/>
            <a:ext cx="394500" cy="7705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8" name="Google Shape;568;p71"/>
          <p:cNvCxnSpPr>
            <a:stCxn id="567" idx="3"/>
            <a:endCxn id="547" idx="1"/>
          </p:cNvCxnSpPr>
          <p:nvPr/>
        </p:nvCxnSpPr>
        <p:spPr>
          <a:xfrm>
            <a:off x="850848" y="4515020"/>
            <a:ext cx="775800" cy="7200"/>
          </a:xfrm>
          <a:prstGeom prst="straightConnector1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9" name="Google Shape;569;p71"/>
          <p:cNvCxnSpPr>
            <a:stCxn id="559" idx="0"/>
            <a:endCxn id="552" idx="1"/>
          </p:cNvCxnSpPr>
          <p:nvPr/>
        </p:nvCxnSpPr>
        <p:spPr>
          <a:xfrm rot="-5400000">
            <a:off x="3112199" y="2459775"/>
            <a:ext cx="407400" cy="1106400"/>
          </a:xfrm>
          <a:prstGeom prst="bentConnector2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0" name="Google Shape;570;p71"/>
          <p:cNvCxnSpPr>
            <a:stCxn id="564" idx="0"/>
            <a:endCxn id="559" idx="3"/>
          </p:cNvCxnSpPr>
          <p:nvPr/>
        </p:nvCxnSpPr>
        <p:spPr>
          <a:xfrm flipH="1" rot="5400000">
            <a:off x="3972426" y="3273275"/>
            <a:ext cx="685800" cy="1128900"/>
          </a:xfrm>
          <a:prstGeom prst="bentConnector2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1" name="Google Shape;571;p71"/>
          <p:cNvCxnSpPr>
            <a:stCxn id="565" idx="0"/>
            <a:endCxn id="559" idx="3"/>
          </p:cNvCxnSpPr>
          <p:nvPr/>
        </p:nvCxnSpPr>
        <p:spPr>
          <a:xfrm flipH="1" rot="5400000">
            <a:off x="4568676" y="2677025"/>
            <a:ext cx="685800" cy="2321400"/>
          </a:xfrm>
          <a:prstGeom prst="bentConnector2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2" name="Google Shape;572;p71"/>
          <p:cNvCxnSpPr>
            <a:stCxn id="566" idx="0"/>
            <a:endCxn id="559" idx="3"/>
          </p:cNvCxnSpPr>
          <p:nvPr/>
        </p:nvCxnSpPr>
        <p:spPr>
          <a:xfrm flipH="1" rot="5400000">
            <a:off x="5206526" y="2039037"/>
            <a:ext cx="630000" cy="3541500"/>
          </a:xfrm>
          <a:prstGeom prst="bentConnector2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3" name="Google Shape;573;p71"/>
          <p:cNvSpPr txBox="1"/>
          <p:nvPr>
            <p:ph type="title"/>
          </p:nvPr>
        </p:nvSpPr>
        <p:spPr>
          <a:xfrm>
            <a:off x="492600" y="3737263"/>
            <a:ext cx="13290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Machine 1</a:t>
            </a:r>
            <a:endParaRPr sz="2600"/>
          </a:p>
        </p:txBody>
      </p:sp>
      <p:sp>
        <p:nvSpPr>
          <p:cNvPr id="574" name="Google Shape;574;p71"/>
          <p:cNvSpPr txBox="1"/>
          <p:nvPr>
            <p:ph type="title"/>
          </p:nvPr>
        </p:nvSpPr>
        <p:spPr>
          <a:xfrm>
            <a:off x="7452425" y="3520250"/>
            <a:ext cx="13290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Machine 2</a:t>
            </a:r>
            <a:endParaRPr sz="2600"/>
          </a:p>
        </p:txBody>
      </p:sp>
      <p:sp>
        <p:nvSpPr>
          <p:cNvPr id="575" name="Google Shape;575;p71"/>
          <p:cNvSpPr/>
          <p:nvPr/>
        </p:nvSpPr>
        <p:spPr>
          <a:xfrm>
            <a:off x="411950" y="2342325"/>
            <a:ext cx="4061700" cy="15195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576" name="Google Shape;576;p71"/>
          <p:cNvSpPr/>
          <p:nvPr/>
        </p:nvSpPr>
        <p:spPr>
          <a:xfrm>
            <a:off x="5897425" y="2050975"/>
            <a:ext cx="2718900" cy="11724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1" name="Google Shape;581;p72"/>
          <p:cNvPicPr preferRelativeResize="0"/>
          <p:nvPr/>
        </p:nvPicPr>
        <p:blipFill rotWithShape="1">
          <a:blip r:embed="rId3">
            <a:alphaModFix/>
          </a:blip>
          <a:srcRect b="10310" l="0" r="0" t="10508"/>
          <a:stretch/>
        </p:blipFill>
        <p:spPr>
          <a:xfrm>
            <a:off x="212716" y="0"/>
            <a:ext cx="871857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73"/>
          <p:cNvSpPr/>
          <p:nvPr/>
        </p:nvSpPr>
        <p:spPr>
          <a:xfrm rot="129712">
            <a:off x="3496897" y="999054"/>
            <a:ext cx="4140988" cy="242254"/>
          </a:xfrm>
          <a:custGeom>
            <a:rect b="b" l="l" r="r" t="t"/>
            <a:pathLst>
              <a:path extrusionOk="0" h="9690" w="152400">
                <a:moveTo>
                  <a:pt x="152400" y="0"/>
                </a:moveTo>
                <a:cubicBezTo>
                  <a:pt x="101572" y="2751"/>
                  <a:pt x="50650" y="4630"/>
                  <a:pt x="0" y="9690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87" name="Google Shape;587;p73"/>
          <p:cNvSpPr txBox="1"/>
          <p:nvPr>
            <p:ph type="title"/>
          </p:nvPr>
        </p:nvSpPr>
        <p:spPr>
          <a:xfrm>
            <a:off x="264450" y="173625"/>
            <a:ext cx="8615100" cy="483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900"/>
              <a:t>prioritize Systems with higher risk</a:t>
            </a:r>
            <a:endParaRPr sz="69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2" name="Google Shape;592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2264" y="86125"/>
            <a:ext cx="1230886" cy="93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025" y="803750"/>
            <a:ext cx="721825" cy="711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4" name="Google Shape;594;p74"/>
          <p:cNvCxnSpPr/>
          <p:nvPr/>
        </p:nvCxnSpPr>
        <p:spPr>
          <a:xfrm flipH="1" rot="10800000">
            <a:off x="978125" y="1153925"/>
            <a:ext cx="7803300" cy="11100"/>
          </a:xfrm>
          <a:prstGeom prst="straightConnector1">
            <a:avLst/>
          </a:prstGeom>
          <a:noFill/>
          <a:ln cap="flat" cmpd="sng" w="1143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95" name="Google Shape;595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91500" y="1352305"/>
            <a:ext cx="1131300" cy="935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69125" y="1381050"/>
            <a:ext cx="552250" cy="87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7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45138" y="1485545"/>
            <a:ext cx="552250" cy="668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7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79767" y="275525"/>
            <a:ext cx="1011008" cy="71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74"/>
          <p:cNvSpPr txBox="1"/>
          <p:nvPr>
            <p:ph type="title"/>
          </p:nvPr>
        </p:nvSpPr>
        <p:spPr>
          <a:xfrm>
            <a:off x="2715975" y="347150"/>
            <a:ext cx="2094600" cy="4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Enterprise cloud</a:t>
            </a:r>
            <a:endParaRPr sz="2600"/>
          </a:p>
        </p:txBody>
      </p:sp>
      <p:sp>
        <p:nvSpPr>
          <p:cNvPr id="600" name="Google Shape;600;p74"/>
          <p:cNvSpPr txBox="1"/>
          <p:nvPr>
            <p:ph type="title"/>
          </p:nvPr>
        </p:nvSpPr>
        <p:spPr>
          <a:xfrm>
            <a:off x="194025" y="1515200"/>
            <a:ext cx="1432500" cy="9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Controls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engineer</a:t>
            </a:r>
            <a:endParaRPr sz="2600"/>
          </a:p>
        </p:txBody>
      </p:sp>
      <p:sp>
        <p:nvSpPr>
          <p:cNvPr id="601" name="Google Shape;601;p74"/>
          <p:cNvSpPr txBox="1"/>
          <p:nvPr>
            <p:ph type="title"/>
          </p:nvPr>
        </p:nvSpPr>
        <p:spPr>
          <a:xfrm>
            <a:off x="2715972" y="1515200"/>
            <a:ext cx="1329000" cy="9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process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engineer</a:t>
            </a:r>
            <a:endParaRPr sz="2600"/>
          </a:p>
        </p:txBody>
      </p:sp>
      <p:sp>
        <p:nvSpPr>
          <p:cNvPr id="602" name="Google Shape;602;p74"/>
          <p:cNvSpPr txBox="1"/>
          <p:nvPr>
            <p:ph type="title"/>
          </p:nvPr>
        </p:nvSpPr>
        <p:spPr>
          <a:xfrm>
            <a:off x="4781024" y="1541688"/>
            <a:ext cx="7218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erp</a:t>
            </a:r>
            <a:endParaRPr sz="2600"/>
          </a:p>
        </p:txBody>
      </p:sp>
      <p:pic>
        <p:nvPicPr>
          <p:cNvPr id="603" name="Google Shape;603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29175" y="1885781"/>
            <a:ext cx="552250" cy="456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29175" y="1297556"/>
            <a:ext cx="552250" cy="456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66825" y="1885781"/>
            <a:ext cx="552250" cy="456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66825" y="1297556"/>
            <a:ext cx="552250" cy="456556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74"/>
          <p:cNvSpPr txBox="1"/>
          <p:nvPr>
            <p:ph type="title"/>
          </p:nvPr>
        </p:nvSpPr>
        <p:spPr>
          <a:xfrm>
            <a:off x="6035387" y="1541688"/>
            <a:ext cx="16536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operations</a:t>
            </a:r>
            <a:endParaRPr sz="2600"/>
          </a:p>
        </p:txBody>
      </p:sp>
      <p:pic>
        <p:nvPicPr>
          <p:cNvPr id="608" name="Google Shape;608;p7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626528" y="4187950"/>
            <a:ext cx="812747" cy="66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7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974103" y="4187950"/>
            <a:ext cx="812747" cy="66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7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552311" y="2530975"/>
            <a:ext cx="1976227" cy="55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7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45138" y="2474845"/>
            <a:ext cx="552250" cy="668780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74"/>
          <p:cNvSpPr txBox="1"/>
          <p:nvPr>
            <p:ph type="title"/>
          </p:nvPr>
        </p:nvSpPr>
        <p:spPr>
          <a:xfrm>
            <a:off x="411952" y="2959500"/>
            <a:ext cx="16536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Line scada </a:t>
            </a:r>
            <a:endParaRPr sz="2600"/>
          </a:p>
        </p:txBody>
      </p:sp>
      <p:pic>
        <p:nvPicPr>
          <p:cNvPr id="613" name="Google Shape;613;p7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69113" y="2474845"/>
            <a:ext cx="552250" cy="668780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74"/>
          <p:cNvSpPr txBox="1"/>
          <p:nvPr>
            <p:ph type="title"/>
          </p:nvPr>
        </p:nvSpPr>
        <p:spPr>
          <a:xfrm>
            <a:off x="2597050" y="2345300"/>
            <a:ext cx="1230900" cy="4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historian</a:t>
            </a:r>
            <a:endParaRPr sz="2600"/>
          </a:p>
        </p:txBody>
      </p:sp>
      <p:cxnSp>
        <p:nvCxnSpPr>
          <p:cNvPr id="615" name="Google Shape;615;p74"/>
          <p:cNvCxnSpPr>
            <a:stCxn id="597" idx="2"/>
            <a:endCxn id="611" idx="0"/>
          </p:cNvCxnSpPr>
          <p:nvPr/>
        </p:nvCxnSpPr>
        <p:spPr>
          <a:xfrm>
            <a:off x="5621263" y="2154325"/>
            <a:ext cx="0" cy="320400"/>
          </a:xfrm>
          <a:prstGeom prst="straightConnector1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6" name="Google Shape;616;p74"/>
          <p:cNvCxnSpPr>
            <a:stCxn id="613" idx="3"/>
            <a:endCxn id="611" idx="1"/>
          </p:cNvCxnSpPr>
          <p:nvPr/>
        </p:nvCxnSpPr>
        <p:spPr>
          <a:xfrm>
            <a:off x="4421363" y="2809235"/>
            <a:ext cx="923700" cy="0"/>
          </a:xfrm>
          <a:prstGeom prst="straightConnector1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7" name="Google Shape;617;p74"/>
          <p:cNvCxnSpPr>
            <a:stCxn id="596" idx="2"/>
            <a:endCxn id="613" idx="0"/>
          </p:cNvCxnSpPr>
          <p:nvPr/>
        </p:nvCxnSpPr>
        <p:spPr>
          <a:xfrm>
            <a:off x="4145250" y="2258825"/>
            <a:ext cx="0" cy="216000"/>
          </a:xfrm>
          <a:prstGeom prst="straightConnector1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8" name="Google Shape;618;p74"/>
          <p:cNvSpPr txBox="1"/>
          <p:nvPr>
            <p:ph type="title"/>
          </p:nvPr>
        </p:nvSpPr>
        <p:spPr>
          <a:xfrm>
            <a:off x="5897412" y="2088563"/>
            <a:ext cx="16536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Site scada</a:t>
            </a:r>
            <a:endParaRPr sz="2600"/>
          </a:p>
        </p:txBody>
      </p:sp>
      <p:cxnSp>
        <p:nvCxnSpPr>
          <p:cNvPr id="619" name="Google Shape;619;p74"/>
          <p:cNvCxnSpPr>
            <a:stCxn id="611" idx="3"/>
            <a:endCxn id="610" idx="1"/>
          </p:cNvCxnSpPr>
          <p:nvPr/>
        </p:nvCxnSpPr>
        <p:spPr>
          <a:xfrm>
            <a:off x="5897388" y="2809235"/>
            <a:ext cx="654900" cy="0"/>
          </a:xfrm>
          <a:prstGeom prst="straightConnector1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20" name="Google Shape;620;p7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774586" y="3216675"/>
            <a:ext cx="1976227" cy="556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1" name="Google Shape;621;p74"/>
          <p:cNvCxnSpPr>
            <a:stCxn id="595" idx="2"/>
            <a:endCxn id="620" idx="0"/>
          </p:cNvCxnSpPr>
          <p:nvPr/>
        </p:nvCxnSpPr>
        <p:spPr>
          <a:xfrm flipH="1" rot="-5400000">
            <a:off x="1895350" y="2349387"/>
            <a:ext cx="929100" cy="805500"/>
          </a:xfrm>
          <a:prstGeom prst="bentConnector3">
            <a:avLst>
              <a:gd fmla="val 71945" name="adj1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2" name="Google Shape;622;p74"/>
          <p:cNvCxnSpPr>
            <a:stCxn id="608" idx="0"/>
            <a:endCxn id="620" idx="2"/>
          </p:cNvCxnSpPr>
          <p:nvPr/>
        </p:nvCxnSpPr>
        <p:spPr>
          <a:xfrm rot="-5400000">
            <a:off x="2190401" y="3615550"/>
            <a:ext cx="414900" cy="729900"/>
          </a:xfrm>
          <a:prstGeom prst="bentConnector3">
            <a:avLst>
              <a:gd fmla="val 49985" name="adj1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3" name="Google Shape;623;p74"/>
          <p:cNvCxnSpPr>
            <a:stCxn id="609" idx="0"/>
            <a:endCxn id="620" idx="2"/>
          </p:cNvCxnSpPr>
          <p:nvPr/>
        </p:nvCxnSpPr>
        <p:spPr>
          <a:xfrm flipH="1" rot="5400000">
            <a:off x="2864176" y="3671650"/>
            <a:ext cx="414900" cy="617700"/>
          </a:xfrm>
          <a:prstGeom prst="bentConnector3">
            <a:avLst>
              <a:gd fmla="val 49985" name="adj1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4" name="Google Shape;624;p74"/>
          <p:cNvSpPr txBox="1"/>
          <p:nvPr>
            <p:ph type="title"/>
          </p:nvPr>
        </p:nvSpPr>
        <p:spPr>
          <a:xfrm>
            <a:off x="4798499" y="2358675"/>
            <a:ext cx="7218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mes</a:t>
            </a:r>
            <a:endParaRPr sz="2600"/>
          </a:p>
        </p:txBody>
      </p:sp>
      <p:pic>
        <p:nvPicPr>
          <p:cNvPr id="625" name="Google Shape;625;p7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473403" y="4180625"/>
            <a:ext cx="812747" cy="66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7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665903" y="4180625"/>
            <a:ext cx="812747" cy="66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p7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016151" y="4124787"/>
            <a:ext cx="552250" cy="780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7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56348" y="4129736"/>
            <a:ext cx="394500" cy="7705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9" name="Google Shape;629;p74"/>
          <p:cNvCxnSpPr>
            <a:stCxn id="628" idx="3"/>
            <a:endCxn id="608" idx="1"/>
          </p:cNvCxnSpPr>
          <p:nvPr/>
        </p:nvCxnSpPr>
        <p:spPr>
          <a:xfrm>
            <a:off x="850848" y="4515020"/>
            <a:ext cx="775800" cy="7200"/>
          </a:xfrm>
          <a:prstGeom prst="straightConnector1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0" name="Google Shape;630;p74"/>
          <p:cNvCxnSpPr>
            <a:stCxn id="620" idx="0"/>
            <a:endCxn id="613" idx="1"/>
          </p:cNvCxnSpPr>
          <p:nvPr/>
        </p:nvCxnSpPr>
        <p:spPr>
          <a:xfrm rot="-5400000">
            <a:off x="3112199" y="2459775"/>
            <a:ext cx="407400" cy="1106400"/>
          </a:xfrm>
          <a:prstGeom prst="bentConnector2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1" name="Google Shape;631;p74"/>
          <p:cNvCxnSpPr>
            <a:stCxn id="625" idx="0"/>
            <a:endCxn id="620" idx="3"/>
          </p:cNvCxnSpPr>
          <p:nvPr/>
        </p:nvCxnSpPr>
        <p:spPr>
          <a:xfrm flipH="1" rot="5400000">
            <a:off x="3972426" y="3273275"/>
            <a:ext cx="685800" cy="1128900"/>
          </a:xfrm>
          <a:prstGeom prst="bentConnector2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2" name="Google Shape;632;p74"/>
          <p:cNvCxnSpPr>
            <a:stCxn id="626" idx="0"/>
            <a:endCxn id="620" idx="3"/>
          </p:cNvCxnSpPr>
          <p:nvPr/>
        </p:nvCxnSpPr>
        <p:spPr>
          <a:xfrm flipH="1" rot="5400000">
            <a:off x="4568676" y="2677025"/>
            <a:ext cx="685800" cy="2321400"/>
          </a:xfrm>
          <a:prstGeom prst="bentConnector2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3" name="Google Shape;633;p74"/>
          <p:cNvCxnSpPr>
            <a:stCxn id="627" idx="0"/>
            <a:endCxn id="620" idx="3"/>
          </p:cNvCxnSpPr>
          <p:nvPr/>
        </p:nvCxnSpPr>
        <p:spPr>
          <a:xfrm flipH="1" rot="5400000">
            <a:off x="5206526" y="2039037"/>
            <a:ext cx="630000" cy="3541500"/>
          </a:xfrm>
          <a:prstGeom prst="bentConnector2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4" name="Google Shape;634;p74"/>
          <p:cNvSpPr txBox="1"/>
          <p:nvPr>
            <p:ph type="title"/>
          </p:nvPr>
        </p:nvSpPr>
        <p:spPr>
          <a:xfrm>
            <a:off x="492600" y="3737263"/>
            <a:ext cx="13290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Machine 1</a:t>
            </a:r>
            <a:endParaRPr sz="2600"/>
          </a:p>
        </p:txBody>
      </p:sp>
      <p:sp>
        <p:nvSpPr>
          <p:cNvPr id="635" name="Google Shape;635;p74"/>
          <p:cNvSpPr txBox="1"/>
          <p:nvPr>
            <p:ph type="title"/>
          </p:nvPr>
        </p:nvSpPr>
        <p:spPr>
          <a:xfrm>
            <a:off x="7452425" y="3520250"/>
            <a:ext cx="13290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Machine 2</a:t>
            </a:r>
            <a:endParaRPr sz="2600"/>
          </a:p>
        </p:txBody>
      </p:sp>
      <p:sp>
        <p:nvSpPr>
          <p:cNvPr id="636" name="Google Shape;636;p74"/>
          <p:cNvSpPr/>
          <p:nvPr/>
        </p:nvSpPr>
        <p:spPr>
          <a:xfrm>
            <a:off x="5364750" y="3864350"/>
            <a:ext cx="2718900" cy="11724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75"/>
          <p:cNvSpPr txBox="1"/>
          <p:nvPr>
            <p:ph type="title"/>
          </p:nvPr>
        </p:nvSpPr>
        <p:spPr>
          <a:xfrm>
            <a:off x="264450" y="696775"/>
            <a:ext cx="8615100" cy="399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guard</a:t>
            </a:r>
            <a:r>
              <a:rPr lang="en"/>
              <a:t> your scada!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/>
              <a:t>Know your risk!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minimize your impact!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76"/>
          <p:cNvSpPr txBox="1"/>
          <p:nvPr>
            <p:ph type="title"/>
          </p:nvPr>
        </p:nvSpPr>
        <p:spPr>
          <a:xfrm>
            <a:off x="264441" y="576442"/>
            <a:ext cx="8615100" cy="399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 sz="6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77"/>
          <p:cNvSpPr txBox="1"/>
          <p:nvPr>
            <p:ph type="title"/>
          </p:nvPr>
        </p:nvSpPr>
        <p:spPr>
          <a:xfrm>
            <a:off x="264450" y="696775"/>
            <a:ext cx="8615100" cy="399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How-to or  Mini-Lesson #2">
  <a:themeElements>
    <a:clrScheme name="Simple Light">
      <a:dk1>
        <a:srgbClr val="1E01FA"/>
      </a:dk1>
      <a:lt1>
        <a:srgbClr val="FFFFFF"/>
      </a:lt1>
      <a:dk2>
        <a:srgbClr val="BFEE1D"/>
      </a:dk2>
      <a:lt2>
        <a:srgbClr val="000000"/>
      </a:lt2>
      <a:accent1>
        <a:srgbClr val="FC9F5B"/>
      </a:accent1>
      <a:accent2>
        <a:srgbClr val="E75A7C"/>
      </a:accent2>
      <a:accent3>
        <a:srgbClr val="BFEDEF"/>
      </a:accent3>
      <a:accent4>
        <a:srgbClr val="337357"/>
      </a:accent4>
      <a:accent5>
        <a:srgbClr val="A8763E"/>
      </a:accent5>
      <a:accent6>
        <a:srgbClr val="45062E"/>
      </a:accent6>
      <a:hlink>
        <a:srgbClr val="BFEE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